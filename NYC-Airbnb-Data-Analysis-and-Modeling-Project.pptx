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67" r:id="rId4"/>
    <p:sldId id="258" r:id="rId5"/>
    <p:sldId id="259" r:id="rId6"/>
    <p:sldId id="260" r:id="rId7"/>
    <p:sldId id="266" r:id="rId8"/>
    <p:sldId id="261" r:id="rId9"/>
    <p:sldId id="262" r:id="rId10"/>
    <p:sldId id="263" r:id="rId11"/>
    <p:sldId id="264" r:id="rId12"/>
    <p:sldId id="265" r:id="rId13"/>
  </p:sldIdLst>
  <p:sldSz cx="14630400" cy="8229600"/>
  <p:notesSz cx="8229600" cy="14630400"/>
  <p:embeddedFontLst>
    <p:embeddedFont>
      <p:font typeface="Inter"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696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4B418-ACA2-745E-C1AD-9F9030F18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2D430-01F5-E2C7-EC9F-9108A74F4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251F3-A60D-AEA0-C41B-D941786235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B747FB-1C0F-193A-899C-827E697D960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24672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38245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04248"/>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NYC Airbnb Data Analysis and Modeling Project</a:t>
            </a:r>
            <a:endParaRPr lang="en-US" sz="4650" dirty="0"/>
          </a:p>
        </p:txBody>
      </p:sp>
      <p:sp>
        <p:nvSpPr>
          <p:cNvPr id="4" name="Text 1"/>
          <p:cNvSpPr/>
          <p:nvPr/>
        </p:nvSpPr>
        <p:spPr>
          <a:xfrm>
            <a:off x="6280190" y="3432929"/>
            <a:ext cx="7556421"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project explores the rich 2019 NYC Airbnb dataset consisting of nearly 49,000 listings across all five boroughs. It includes detailed attributes spanning host info, property features, geographic location, pricing, and reviews over an eight-year span. Our goal is to develop predictive models for pricing and classification tasks, uncover factors driving price variability, and deliver actionable insights for hosts and investors in the competitive short-term rental market.</a:t>
            </a:r>
            <a:endParaRPr lang="en-US" sz="1750" dirty="0"/>
          </a:p>
        </p:txBody>
      </p:sp>
      <p:sp>
        <p:nvSpPr>
          <p:cNvPr id="5" name="Shape 2"/>
          <p:cNvSpPr/>
          <p:nvPr/>
        </p:nvSpPr>
        <p:spPr>
          <a:xfrm>
            <a:off x="6280190" y="6245304"/>
            <a:ext cx="362903" cy="362903"/>
          </a:xfrm>
          <a:prstGeom prst="roundRect">
            <a:avLst>
              <a:gd name="adj" fmla="val 25194296"/>
            </a:avLst>
          </a:prstGeom>
          <a:noFill/>
          <a:ln w="7620">
            <a:solidFill>
              <a:srgbClr val="FFFFFF"/>
            </a:solidFill>
            <a:prstDash val="solid"/>
          </a:ln>
        </p:spPr>
        <p:txBody>
          <a:bodyPr/>
          <a:lstStyle/>
          <a:p>
            <a:endParaRPr lang="en-US"/>
          </a:p>
        </p:txBody>
      </p:sp>
      <p:sp>
        <p:nvSpPr>
          <p:cNvPr id="7" name="Text 3"/>
          <p:cNvSpPr/>
          <p:nvPr/>
        </p:nvSpPr>
        <p:spPr>
          <a:xfrm>
            <a:off x="6756440" y="6228398"/>
            <a:ext cx="2361128" cy="396835"/>
          </a:xfrm>
          <a:prstGeom prst="rect">
            <a:avLst/>
          </a:prstGeom>
          <a:noFill/>
          <a:ln/>
        </p:spPr>
        <p:txBody>
          <a:bodyPr wrap="none" lIns="0" tIns="0" rIns="0" bIns="0" rtlCol="0" anchor="t"/>
          <a:lstStyle/>
          <a:p>
            <a:pPr marL="0" indent="0" algn="l">
              <a:lnSpc>
                <a:spcPts val="3100"/>
              </a:lnSpc>
              <a:buNone/>
            </a:pPr>
            <a:r>
              <a:rPr lang="en-US" sz="2200" b="1" dirty="0">
                <a:solidFill>
                  <a:srgbClr val="272525"/>
                </a:solidFill>
                <a:latin typeface="Inter Bold" pitchFamily="34" charset="0"/>
                <a:ea typeface="Inter Bold" pitchFamily="34" charset="-122"/>
                <a:cs typeface="Inter Bold" pitchFamily="34" charset="-120"/>
              </a:rPr>
              <a:t>By Rawan</a:t>
            </a:r>
            <a:endParaRPr lang="en-US" sz="2200" dirty="0"/>
          </a:p>
        </p:txBody>
      </p:sp>
      <p:sp>
        <p:nvSpPr>
          <p:cNvPr id="9" name="Rectangle 8">
            <a:extLst>
              <a:ext uri="{FF2B5EF4-FFF2-40B4-BE49-F238E27FC236}">
                <a16:creationId xmlns:a16="http://schemas.microsoft.com/office/drawing/2014/main" id="{60668FB4-168A-4636-AEEB-A2BF393EB06D}"/>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9E86769-1CC2-4445-8900-0F533FA71F61}"/>
              </a:ext>
            </a:extLst>
          </p:cNvPr>
          <p:cNvPicPr>
            <a:picLocks noChangeAspect="1"/>
          </p:cNvPicPr>
          <p:nvPr/>
        </p:nvPicPr>
        <p:blipFill>
          <a:blip r:embed="rId4"/>
          <a:stretch>
            <a:fillRect/>
          </a:stretch>
        </p:blipFill>
        <p:spPr>
          <a:xfrm>
            <a:off x="6199988" y="6223154"/>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93790" y="500466"/>
            <a:ext cx="7556421" cy="1339691"/>
          </a:xfrm>
          <a:prstGeom prst="rect">
            <a:avLst/>
          </a:prstGeom>
          <a:noFill/>
          <a:ln/>
        </p:spPr>
        <p:txBody>
          <a:bodyPr wrap="square" lIns="0" tIns="0" rIns="0" bIns="0" rtlCol="0" anchor="t"/>
          <a:lstStyle/>
          <a:p>
            <a:pPr marL="0" indent="0" algn="l">
              <a:lnSpc>
                <a:spcPts val="5250"/>
              </a:lnSpc>
              <a:buNone/>
            </a:pPr>
            <a:r>
              <a:rPr lang="en-US" sz="4200" b="1" dirty="0">
                <a:solidFill>
                  <a:srgbClr val="000000"/>
                </a:solidFill>
                <a:latin typeface="Petrona Bold" pitchFamily="34" charset="0"/>
                <a:ea typeface="Petrona Bold" pitchFamily="34" charset="-122"/>
                <a:cs typeface="Petrona Bold" pitchFamily="34" charset="-120"/>
              </a:rPr>
              <a:t>Problem Overview</a:t>
            </a:r>
            <a:endParaRPr lang="en-US" sz="4200" dirty="0"/>
          </a:p>
        </p:txBody>
      </p:sp>
      <p:sp>
        <p:nvSpPr>
          <p:cNvPr id="4" name="Shape 1"/>
          <p:cNvSpPr/>
          <p:nvPr/>
        </p:nvSpPr>
        <p:spPr>
          <a:xfrm>
            <a:off x="793790" y="1600408"/>
            <a:ext cx="459224" cy="459224"/>
          </a:xfrm>
          <a:prstGeom prst="roundRect">
            <a:avLst>
              <a:gd name="adj" fmla="val 18671"/>
            </a:avLst>
          </a:prstGeom>
          <a:solidFill>
            <a:srgbClr val="CCEEFF"/>
          </a:solidFill>
          <a:ln w="7620">
            <a:solidFill>
              <a:srgbClr val="B2D4E5"/>
            </a:solidFill>
            <a:prstDash val="solid"/>
          </a:ln>
        </p:spPr>
        <p:txBody>
          <a:bodyPr/>
          <a:lstStyle/>
          <a:p>
            <a:endParaRPr lang="en-US"/>
          </a:p>
        </p:txBody>
      </p:sp>
      <p:sp>
        <p:nvSpPr>
          <p:cNvPr id="5" name="Text 2"/>
          <p:cNvSpPr/>
          <p:nvPr/>
        </p:nvSpPr>
        <p:spPr>
          <a:xfrm>
            <a:off x="862608" y="1629042"/>
            <a:ext cx="321469" cy="401836"/>
          </a:xfrm>
          <a:prstGeom prst="rect">
            <a:avLst/>
          </a:prstGeom>
          <a:noFill/>
          <a:ln/>
        </p:spPr>
        <p:txBody>
          <a:bodyPr wrap="none" lIns="0" tIns="0" rIns="0" bIns="0" rtlCol="0" anchor="t"/>
          <a:lstStyle/>
          <a:p>
            <a:pPr marL="0" indent="0" algn="ctr">
              <a:lnSpc>
                <a:spcPts val="2500"/>
              </a:lnSpc>
              <a:buNone/>
            </a:pPr>
            <a:r>
              <a:rPr lang="en-US" sz="2500" b="1" dirty="0">
                <a:solidFill>
                  <a:srgbClr val="272525"/>
                </a:solidFill>
                <a:latin typeface="Petrona Bold" pitchFamily="34" charset="0"/>
                <a:ea typeface="Petrona Bold" pitchFamily="34" charset="-122"/>
                <a:cs typeface="Petrona Bold" pitchFamily="34" charset="-120"/>
              </a:rPr>
              <a:t>1</a:t>
            </a:r>
            <a:endParaRPr lang="en-US" sz="2500" dirty="0"/>
          </a:p>
        </p:txBody>
      </p:sp>
      <p:sp>
        <p:nvSpPr>
          <p:cNvPr id="6" name="Text 3"/>
          <p:cNvSpPr/>
          <p:nvPr/>
        </p:nvSpPr>
        <p:spPr>
          <a:xfrm>
            <a:off x="1457087" y="1600408"/>
            <a:ext cx="3012877" cy="669608"/>
          </a:xfrm>
          <a:prstGeom prst="rect">
            <a:avLst/>
          </a:prstGeom>
          <a:noFill/>
          <a:ln/>
        </p:spPr>
        <p:txBody>
          <a:bodyPr wrap="square" lIns="0" tIns="0" rIns="0" bIns="0" rtlCol="0" anchor="t"/>
          <a:lstStyle/>
          <a:p>
            <a:pPr marL="0" indent="0" algn="l">
              <a:lnSpc>
                <a:spcPts val="2600"/>
              </a:lnSpc>
              <a:buNone/>
            </a:pPr>
            <a:r>
              <a:rPr lang="en-US" sz="2000" b="1" dirty="0">
                <a:latin typeface="Petrona Bold"/>
              </a:rPr>
              <a:t>Predict total booking cost</a:t>
            </a:r>
            <a:br>
              <a:rPr lang="en-US" sz="2000" dirty="0">
                <a:latin typeface="Petrona Bold"/>
              </a:rPr>
            </a:br>
            <a:endParaRPr lang="en-US" sz="2000" dirty="0">
              <a:latin typeface="Petrona Bold"/>
            </a:endParaRPr>
          </a:p>
        </p:txBody>
      </p:sp>
      <p:sp>
        <p:nvSpPr>
          <p:cNvPr id="7" name="Text 4"/>
          <p:cNvSpPr/>
          <p:nvPr/>
        </p:nvSpPr>
        <p:spPr>
          <a:xfrm>
            <a:off x="1457087" y="2549402"/>
            <a:ext cx="3012877" cy="1960245"/>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Handled missing values, outliers, and skewed features using robust statistical methods and transformations. Categorical data encoded to capture nuanced distinctions.</a:t>
            </a:r>
            <a:endParaRPr lang="en-US" sz="1600" dirty="0"/>
          </a:p>
        </p:txBody>
      </p:sp>
      <p:sp>
        <p:nvSpPr>
          <p:cNvPr id="8" name="Shape 5"/>
          <p:cNvSpPr/>
          <p:nvPr/>
        </p:nvSpPr>
        <p:spPr>
          <a:xfrm>
            <a:off x="4674037" y="1599159"/>
            <a:ext cx="459224" cy="459224"/>
          </a:xfrm>
          <a:prstGeom prst="roundRect">
            <a:avLst>
              <a:gd name="adj" fmla="val 18671"/>
            </a:avLst>
          </a:prstGeom>
          <a:solidFill>
            <a:srgbClr val="CCEEFF"/>
          </a:solidFill>
          <a:ln w="7620">
            <a:solidFill>
              <a:srgbClr val="B2D4E5"/>
            </a:solidFill>
            <a:prstDash val="solid"/>
          </a:ln>
        </p:spPr>
        <p:txBody>
          <a:bodyPr/>
          <a:lstStyle/>
          <a:p>
            <a:endParaRPr lang="en-US"/>
          </a:p>
        </p:txBody>
      </p:sp>
      <p:sp>
        <p:nvSpPr>
          <p:cNvPr id="9" name="Text 6"/>
          <p:cNvSpPr/>
          <p:nvPr/>
        </p:nvSpPr>
        <p:spPr>
          <a:xfrm>
            <a:off x="4742855" y="1629042"/>
            <a:ext cx="321469" cy="401836"/>
          </a:xfrm>
          <a:prstGeom prst="rect">
            <a:avLst/>
          </a:prstGeom>
          <a:noFill/>
          <a:ln/>
        </p:spPr>
        <p:txBody>
          <a:bodyPr wrap="none" lIns="0" tIns="0" rIns="0" bIns="0" rtlCol="0" anchor="t"/>
          <a:lstStyle/>
          <a:p>
            <a:pPr marL="0" indent="0" algn="ctr">
              <a:lnSpc>
                <a:spcPts val="2500"/>
              </a:lnSpc>
              <a:buNone/>
            </a:pPr>
            <a:r>
              <a:rPr lang="en-US" sz="2500" b="1" dirty="0">
                <a:solidFill>
                  <a:srgbClr val="272525"/>
                </a:solidFill>
                <a:latin typeface="Petrona Bold" pitchFamily="34" charset="0"/>
                <a:ea typeface="Petrona Bold" pitchFamily="34" charset="-122"/>
                <a:cs typeface="Petrona Bold" pitchFamily="34" charset="-120"/>
              </a:rPr>
              <a:t>2</a:t>
            </a:r>
            <a:endParaRPr lang="en-US" sz="2500" dirty="0"/>
          </a:p>
        </p:txBody>
      </p:sp>
      <p:sp>
        <p:nvSpPr>
          <p:cNvPr id="10" name="Text 7"/>
          <p:cNvSpPr/>
          <p:nvPr/>
        </p:nvSpPr>
        <p:spPr>
          <a:xfrm>
            <a:off x="5337334" y="1600408"/>
            <a:ext cx="3012877" cy="669608"/>
          </a:xfrm>
          <a:prstGeom prst="rect">
            <a:avLst/>
          </a:prstGeom>
          <a:noFill/>
          <a:ln/>
        </p:spPr>
        <p:txBody>
          <a:bodyPr wrap="square" lIns="0" tIns="0" rIns="0" bIns="0" rtlCol="0" anchor="t"/>
          <a:lstStyle/>
          <a:p>
            <a:pPr marL="0" indent="0" algn="l">
              <a:lnSpc>
                <a:spcPts val="2600"/>
              </a:lnSpc>
              <a:buNone/>
            </a:pPr>
            <a:r>
              <a:rPr lang="en-US" sz="2000" b="1" dirty="0">
                <a:latin typeface="Petrona Bold"/>
              </a:rPr>
              <a:t>Classify listings into high/low price categories</a:t>
            </a:r>
          </a:p>
        </p:txBody>
      </p:sp>
      <p:sp>
        <p:nvSpPr>
          <p:cNvPr id="11" name="Text 8"/>
          <p:cNvSpPr/>
          <p:nvPr/>
        </p:nvSpPr>
        <p:spPr>
          <a:xfrm>
            <a:off x="5337334" y="2549402"/>
            <a:ext cx="3012877" cy="1960245"/>
          </a:xfrm>
          <a:prstGeom prst="rect">
            <a:avLst/>
          </a:prstGeom>
          <a:noFill/>
          <a:ln/>
        </p:spPr>
        <p:txBody>
          <a:bodyPr wrap="square" lIns="0" tIns="0" rIns="0" bIns="0" rtlCol="0" anchor="t"/>
          <a:lstStyle/>
          <a:p>
            <a:pPr marL="0" indent="0" algn="l">
              <a:lnSpc>
                <a:spcPts val="2550"/>
              </a:lnSpc>
              <a:buNone/>
            </a:pPr>
            <a:r>
              <a:rPr lang="en-US" sz="1600" dirty="0">
                <a:latin typeface="Inter" panose="020B0604020202020204" charset="0"/>
                <a:ea typeface="Inter" panose="020B0604020202020204" charset="0"/>
              </a:rPr>
              <a:t>Separating properties into price‑tier groups to guide targeted pricing strategies.</a:t>
            </a:r>
          </a:p>
        </p:txBody>
      </p:sp>
      <p:sp>
        <p:nvSpPr>
          <p:cNvPr id="12" name="Shape 9"/>
          <p:cNvSpPr/>
          <p:nvPr/>
        </p:nvSpPr>
        <p:spPr>
          <a:xfrm>
            <a:off x="2452509" y="4827163"/>
            <a:ext cx="459224" cy="459224"/>
          </a:xfrm>
          <a:prstGeom prst="roundRect">
            <a:avLst>
              <a:gd name="adj" fmla="val 18671"/>
            </a:avLst>
          </a:prstGeom>
          <a:solidFill>
            <a:srgbClr val="CCEEFF"/>
          </a:solidFill>
          <a:ln w="7620">
            <a:solidFill>
              <a:srgbClr val="B2D4E5"/>
            </a:solidFill>
            <a:prstDash val="solid"/>
          </a:ln>
        </p:spPr>
        <p:txBody>
          <a:bodyPr/>
          <a:lstStyle/>
          <a:p>
            <a:endParaRPr lang="en-US"/>
          </a:p>
        </p:txBody>
      </p:sp>
      <p:sp>
        <p:nvSpPr>
          <p:cNvPr id="13" name="Text 10"/>
          <p:cNvSpPr/>
          <p:nvPr/>
        </p:nvSpPr>
        <p:spPr>
          <a:xfrm>
            <a:off x="2497050" y="4884551"/>
            <a:ext cx="321469" cy="401836"/>
          </a:xfrm>
          <a:prstGeom prst="rect">
            <a:avLst/>
          </a:prstGeom>
          <a:noFill/>
          <a:ln/>
        </p:spPr>
        <p:txBody>
          <a:bodyPr wrap="none" lIns="0" tIns="0" rIns="0" bIns="0" rtlCol="0" anchor="t"/>
          <a:lstStyle/>
          <a:p>
            <a:pPr marL="0" indent="0" algn="ctr">
              <a:lnSpc>
                <a:spcPts val="2500"/>
              </a:lnSpc>
              <a:buNone/>
            </a:pPr>
            <a:r>
              <a:rPr lang="en-US" sz="2500" b="1" dirty="0">
                <a:solidFill>
                  <a:srgbClr val="272525"/>
                </a:solidFill>
                <a:latin typeface="Petrona Bold" pitchFamily="34" charset="0"/>
                <a:ea typeface="Petrona Bold" pitchFamily="34" charset="-122"/>
                <a:cs typeface="Petrona Bold" pitchFamily="34" charset="-120"/>
              </a:rPr>
              <a:t>3</a:t>
            </a:r>
            <a:endParaRPr lang="en-US" sz="2500" dirty="0"/>
          </a:p>
        </p:txBody>
      </p:sp>
      <p:sp>
        <p:nvSpPr>
          <p:cNvPr id="14" name="Text 11"/>
          <p:cNvSpPr/>
          <p:nvPr/>
        </p:nvSpPr>
        <p:spPr>
          <a:xfrm>
            <a:off x="3119553" y="4827163"/>
            <a:ext cx="3471863" cy="334804"/>
          </a:xfrm>
          <a:prstGeom prst="rect">
            <a:avLst/>
          </a:prstGeom>
          <a:noFill/>
          <a:ln/>
        </p:spPr>
        <p:txBody>
          <a:bodyPr wrap="none" lIns="0" tIns="0" rIns="0" bIns="0" rtlCol="0" anchor="t"/>
          <a:lstStyle/>
          <a:p>
            <a:pPr marL="0" indent="0" algn="l">
              <a:lnSpc>
                <a:spcPts val="2600"/>
              </a:lnSpc>
              <a:buNone/>
            </a:pPr>
            <a:r>
              <a:rPr lang="en-US" sz="2000" b="1" dirty="0">
                <a:latin typeface="Petrona Bold"/>
              </a:rPr>
              <a:t>Segment listings via clustering</a:t>
            </a:r>
          </a:p>
        </p:txBody>
      </p:sp>
      <p:sp>
        <p:nvSpPr>
          <p:cNvPr id="15" name="Text 12"/>
          <p:cNvSpPr/>
          <p:nvPr/>
        </p:nvSpPr>
        <p:spPr>
          <a:xfrm>
            <a:off x="2452509" y="5473009"/>
            <a:ext cx="6893123" cy="653415"/>
          </a:xfrm>
          <a:prstGeom prst="rect">
            <a:avLst/>
          </a:prstGeom>
          <a:noFill/>
          <a:ln/>
        </p:spPr>
        <p:txBody>
          <a:bodyPr wrap="square" lIns="0" tIns="0" rIns="0" bIns="0" rtlCol="0" anchor="t"/>
          <a:lstStyle/>
          <a:p>
            <a:pPr marL="0" indent="0" algn="l">
              <a:lnSpc>
                <a:spcPts val="2550"/>
              </a:lnSpc>
              <a:buNone/>
            </a:pPr>
            <a:r>
              <a:rPr lang="en-US" sz="1600" dirty="0">
                <a:latin typeface="Inter" panose="020B0604020202020204" charset="0"/>
                <a:ea typeface="Inter" panose="020B0604020202020204" charset="0"/>
              </a:rPr>
              <a:t>Uncovering natural listing segments based on revenue potential, availability, and location.</a:t>
            </a:r>
          </a:p>
        </p:txBody>
      </p:sp>
      <p:pic>
        <p:nvPicPr>
          <p:cNvPr id="17" name="Picture 16" descr="A person kneeling in front of a person's head&#10;&#10;AI-generated content may be incorrect.">
            <a:extLst>
              <a:ext uri="{FF2B5EF4-FFF2-40B4-BE49-F238E27FC236}">
                <a16:creationId xmlns:a16="http://schemas.microsoft.com/office/drawing/2014/main" id="{EF5818D2-79E6-D7A6-689E-379970E7B9A3}"/>
              </a:ext>
            </a:extLst>
          </p:cNvPr>
          <p:cNvPicPr>
            <a:picLocks noChangeAspect="1"/>
          </p:cNvPicPr>
          <p:nvPr/>
        </p:nvPicPr>
        <p:blipFill>
          <a:blip r:embed="rId3"/>
          <a:stretch>
            <a:fillRect/>
          </a:stretch>
        </p:blipFill>
        <p:spPr>
          <a:xfrm>
            <a:off x="9110546" y="0"/>
            <a:ext cx="5519854" cy="8229600"/>
          </a:xfrm>
          <a:prstGeom prst="rect">
            <a:avLst/>
          </a:prstGeom>
        </p:spPr>
      </p:pic>
      <p:sp>
        <p:nvSpPr>
          <p:cNvPr id="18" name="Rectangle 1">
            <a:extLst>
              <a:ext uri="{FF2B5EF4-FFF2-40B4-BE49-F238E27FC236}">
                <a16:creationId xmlns:a16="http://schemas.microsoft.com/office/drawing/2014/main" id="{F3586C6F-A876-D7BD-112B-77FCD17B9DC0}"/>
              </a:ext>
            </a:extLst>
          </p:cNvPr>
          <p:cNvSpPr>
            <a:spLocks noChangeArrowheads="1"/>
          </p:cNvSpPr>
          <p:nvPr/>
        </p:nvSpPr>
        <p:spPr bwMode="auto">
          <a:xfrm>
            <a:off x="0" y="0"/>
            <a:ext cx="14630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a:ln>
                  <a:noFill/>
                </a:ln>
                <a:solidFill>
                  <a:schemeClr val="tx1"/>
                </a:solidFill>
                <a:effectLst/>
                <a:latin typeface="Arial" panose="020B0604020202020204" pitchFamily="34" charset="0"/>
              </a:rPr>
              <a:t>Estimating overall expenditure for a guest’s minimum stay using regression models.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ACE87771-935C-D3BB-735C-9CF65C625631}"/>
              </a:ext>
            </a:extLst>
          </p:cNvPr>
          <p:cNvSpPr txBox="1"/>
          <p:nvPr/>
        </p:nvSpPr>
        <p:spPr>
          <a:xfrm>
            <a:off x="862608" y="6743628"/>
            <a:ext cx="7846494"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Business Impact:</a:t>
            </a:r>
            <a:r>
              <a:rPr lang="en-US" dirty="0">
                <a:latin typeface="Times New Roman" panose="02020603050405020304" pitchFamily="18" charset="0"/>
                <a:cs typeface="Times New Roman" panose="02020603050405020304" pitchFamily="18" charset="0"/>
              </a:rPr>
              <a:t> Help hosts optimize pricing, target promotions, and understand market segments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AC107-D822-927C-547D-82586819D74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8F546E6-8643-C11D-6943-AB7965513E9F}"/>
              </a:ext>
            </a:extLst>
          </p:cNvPr>
          <p:cNvPicPr>
            <a:picLocks noChangeAspect="1"/>
          </p:cNvPicPr>
          <p:nvPr/>
        </p:nvPicPr>
        <p:blipFill>
          <a:blip r:embed="rId3"/>
          <a:stretch>
            <a:fillRect/>
          </a:stretch>
        </p:blipFill>
        <p:spPr>
          <a:xfrm>
            <a:off x="9144000" y="0"/>
            <a:ext cx="5486400" cy="8229600"/>
          </a:xfrm>
          <a:prstGeom prst="rect">
            <a:avLst/>
          </a:prstGeom>
        </p:spPr>
      </p:pic>
      <p:sp>
        <p:nvSpPr>
          <p:cNvPr id="3" name="Text 0">
            <a:extLst>
              <a:ext uri="{FF2B5EF4-FFF2-40B4-BE49-F238E27FC236}">
                <a16:creationId xmlns:a16="http://schemas.microsoft.com/office/drawing/2014/main" id="{0946C0FA-0A1E-054B-BC6C-EC18833AB5B8}"/>
              </a:ext>
            </a:extLst>
          </p:cNvPr>
          <p:cNvSpPr/>
          <p:nvPr/>
        </p:nvSpPr>
        <p:spPr>
          <a:xfrm>
            <a:off x="793790" y="1028819"/>
            <a:ext cx="7556421" cy="1339691"/>
          </a:xfrm>
          <a:prstGeom prst="rect">
            <a:avLst/>
          </a:prstGeom>
          <a:noFill/>
          <a:ln/>
        </p:spPr>
        <p:txBody>
          <a:bodyPr wrap="square" lIns="0" tIns="0" rIns="0" bIns="0" rtlCol="0" anchor="t"/>
          <a:lstStyle/>
          <a:p>
            <a:pPr marL="0" indent="0" algn="l">
              <a:lnSpc>
                <a:spcPts val="5250"/>
              </a:lnSpc>
              <a:buNone/>
            </a:pPr>
            <a:r>
              <a:rPr lang="en-US" sz="4200" b="1" dirty="0">
                <a:solidFill>
                  <a:srgbClr val="000000"/>
                </a:solidFill>
                <a:latin typeface="Petrona Bold" pitchFamily="34" charset="0"/>
                <a:ea typeface="Petrona Bold" pitchFamily="34" charset="-122"/>
                <a:cs typeface="Petrona Bold" pitchFamily="34" charset="-120"/>
              </a:rPr>
              <a:t>Data Preprocessing and Feature Engineering Pipeline</a:t>
            </a:r>
            <a:endParaRPr lang="en-US" sz="4200" dirty="0"/>
          </a:p>
        </p:txBody>
      </p:sp>
      <p:sp>
        <p:nvSpPr>
          <p:cNvPr id="4" name="Shape 1">
            <a:extLst>
              <a:ext uri="{FF2B5EF4-FFF2-40B4-BE49-F238E27FC236}">
                <a16:creationId xmlns:a16="http://schemas.microsoft.com/office/drawing/2014/main" id="{62913398-9D53-66ED-0DA7-44CBBF61A373}"/>
              </a:ext>
            </a:extLst>
          </p:cNvPr>
          <p:cNvSpPr/>
          <p:nvPr/>
        </p:nvSpPr>
        <p:spPr>
          <a:xfrm>
            <a:off x="793790" y="2904173"/>
            <a:ext cx="459224" cy="459224"/>
          </a:xfrm>
          <a:prstGeom prst="roundRect">
            <a:avLst>
              <a:gd name="adj" fmla="val 18671"/>
            </a:avLst>
          </a:prstGeom>
          <a:solidFill>
            <a:srgbClr val="CCEEFF"/>
          </a:solidFill>
          <a:ln w="7620">
            <a:solidFill>
              <a:srgbClr val="B2D4E5"/>
            </a:solidFill>
            <a:prstDash val="solid"/>
          </a:ln>
        </p:spPr>
        <p:txBody>
          <a:bodyPr/>
          <a:lstStyle/>
          <a:p>
            <a:endParaRPr lang="en-US"/>
          </a:p>
        </p:txBody>
      </p:sp>
      <p:sp>
        <p:nvSpPr>
          <p:cNvPr id="5" name="Text 2">
            <a:extLst>
              <a:ext uri="{FF2B5EF4-FFF2-40B4-BE49-F238E27FC236}">
                <a16:creationId xmlns:a16="http://schemas.microsoft.com/office/drawing/2014/main" id="{B1AC60EA-F323-B81A-7F65-C92A165E15D0}"/>
              </a:ext>
            </a:extLst>
          </p:cNvPr>
          <p:cNvSpPr/>
          <p:nvPr/>
        </p:nvSpPr>
        <p:spPr>
          <a:xfrm>
            <a:off x="862608" y="2932807"/>
            <a:ext cx="321469" cy="401836"/>
          </a:xfrm>
          <a:prstGeom prst="rect">
            <a:avLst/>
          </a:prstGeom>
          <a:noFill/>
          <a:ln/>
        </p:spPr>
        <p:txBody>
          <a:bodyPr wrap="none" lIns="0" tIns="0" rIns="0" bIns="0" rtlCol="0" anchor="t"/>
          <a:lstStyle/>
          <a:p>
            <a:pPr marL="0" indent="0" algn="ctr">
              <a:lnSpc>
                <a:spcPts val="2500"/>
              </a:lnSpc>
              <a:buNone/>
            </a:pPr>
            <a:r>
              <a:rPr lang="en-US" sz="2500" b="1" dirty="0">
                <a:solidFill>
                  <a:srgbClr val="272525"/>
                </a:solidFill>
                <a:latin typeface="Petrona Bold" pitchFamily="34" charset="0"/>
                <a:ea typeface="Petrona Bold" pitchFamily="34" charset="-122"/>
                <a:cs typeface="Petrona Bold" pitchFamily="34" charset="-120"/>
              </a:rPr>
              <a:t>1</a:t>
            </a:r>
            <a:endParaRPr lang="en-US" sz="2500" dirty="0"/>
          </a:p>
        </p:txBody>
      </p:sp>
      <p:sp>
        <p:nvSpPr>
          <p:cNvPr id="6" name="Text 3">
            <a:extLst>
              <a:ext uri="{FF2B5EF4-FFF2-40B4-BE49-F238E27FC236}">
                <a16:creationId xmlns:a16="http://schemas.microsoft.com/office/drawing/2014/main" id="{0B462A0B-016E-95BC-5632-089C28F487C5}"/>
              </a:ext>
            </a:extLst>
          </p:cNvPr>
          <p:cNvSpPr/>
          <p:nvPr/>
        </p:nvSpPr>
        <p:spPr>
          <a:xfrm>
            <a:off x="1457087" y="2904173"/>
            <a:ext cx="3012877" cy="669608"/>
          </a:xfrm>
          <a:prstGeom prst="rect">
            <a:avLst/>
          </a:prstGeom>
          <a:noFill/>
          <a:ln/>
        </p:spPr>
        <p:txBody>
          <a:bodyPr wrap="squar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Data Preprocessing Steps</a:t>
            </a:r>
            <a:endParaRPr lang="en-US" sz="2100" dirty="0"/>
          </a:p>
        </p:txBody>
      </p:sp>
      <p:sp>
        <p:nvSpPr>
          <p:cNvPr id="7" name="Text 4">
            <a:extLst>
              <a:ext uri="{FF2B5EF4-FFF2-40B4-BE49-F238E27FC236}">
                <a16:creationId xmlns:a16="http://schemas.microsoft.com/office/drawing/2014/main" id="{2120C882-31D9-AE85-33A9-109F516575A7}"/>
              </a:ext>
            </a:extLst>
          </p:cNvPr>
          <p:cNvSpPr/>
          <p:nvPr/>
        </p:nvSpPr>
        <p:spPr>
          <a:xfrm>
            <a:off x="1457087" y="3696176"/>
            <a:ext cx="3012877" cy="1960245"/>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Handled missing values, outliers, and skewed features using robust statistical methods and transformations. Categorical data encoded to capture nuanced distinctions.</a:t>
            </a:r>
            <a:endParaRPr lang="en-US" sz="1600" dirty="0"/>
          </a:p>
        </p:txBody>
      </p:sp>
      <p:sp>
        <p:nvSpPr>
          <p:cNvPr id="8" name="Shape 5">
            <a:extLst>
              <a:ext uri="{FF2B5EF4-FFF2-40B4-BE49-F238E27FC236}">
                <a16:creationId xmlns:a16="http://schemas.microsoft.com/office/drawing/2014/main" id="{F1CD1937-542A-EE45-DB6B-ECA57A1A9218}"/>
              </a:ext>
            </a:extLst>
          </p:cNvPr>
          <p:cNvSpPr/>
          <p:nvPr/>
        </p:nvSpPr>
        <p:spPr>
          <a:xfrm>
            <a:off x="4674037" y="2904173"/>
            <a:ext cx="459224" cy="459224"/>
          </a:xfrm>
          <a:prstGeom prst="roundRect">
            <a:avLst>
              <a:gd name="adj" fmla="val 18671"/>
            </a:avLst>
          </a:prstGeom>
          <a:solidFill>
            <a:srgbClr val="CCEEFF"/>
          </a:solidFill>
          <a:ln w="7620">
            <a:solidFill>
              <a:srgbClr val="B2D4E5"/>
            </a:solidFill>
            <a:prstDash val="solid"/>
          </a:ln>
        </p:spPr>
        <p:txBody>
          <a:bodyPr/>
          <a:lstStyle/>
          <a:p>
            <a:endParaRPr lang="en-US"/>
          </a:p>
        </p:txBody>
      </p:sp>
      <p:sp>
        <p:nvSpPr>
          <p:cNvPr id="9" name="Text 6">
            <a:extLst>
              <a:ext uri="{FF2B5EF4-FFF2-40B4-BE49-F238E27FC236}">
                <a16:creationId xmlns:a16="http://schemas.microsoft.com/office/drawing/2014/main" id="{C3EB9E15-8518-99C7-EFCC-949048DA6A1B}"/>
              </a:ext>
            </a:extLst>
          </p:cNvPr>
          <p:cNvSpPr/>
          <p:nvPr/>
        </p:nvSpPr>
        <p:spPr>
          <a:xfrm>
            <a:off x="4742855" y="2932807"/>
            <a:ext cx="321469" cy="401836"/>
          </a:xfrm>
          <a:prstGeom prst="rect">
            <a:avLst/>
          </a:prstGeom>
          <a:noFill/>
          <a:ln/>
        </p:spPr>
        <p:txBody>
          <a:bodyPr wrap="none" lIns="0" tIns="0" rIns="0" bIns="0" rtlCol="0" anchor="t"/>
          <a:lstStyle/>
          <a:p>
            <a:pPr marL="0" indent="0" algn="ctr">
              <a:lnSpc>
                <a:spcPts val="2500"/>
              </a:lnSpc>
              <a:buNone/>
            </a:pPr>
            <a:r>
              <a:rPr lang="en-US" sz="2500" b="1" dirty="0">
                <a:solidFill>
                  <a:srgbClr val="272525"/>
                </a:solidFill>
                <a:latin typeface="Petrona Bold" pitchFamily="34" charset="0"/>
                <a:ea typeface="Petrona Bold" pitchFamily="34" charset="-122"/>
                <a:cs typeface="Petrona Bold" pitchFamily="34" charset="-120"/>
              </a:rPr>
              <a:t>2</a:t>
            </a:r>
            <a:endParaRPr lang="en-US" sz="2500" dirty="0"/>
          </a:p>
        </p:txBody>
      </p:sp>
      <p:sp>
        <p:nvSpPr>
          <p:cNvPr id="10" name="Text 7">
            <a:extLst>
              <a:ext uri="{FF2B5EF4-FFF2-40B4-BE49-F238E27FC236}">
                <a16:creationId xmlns:a16="http://schemas.microsoft.com/office/drawing/2014/main" id="{D21A8C5D-46BD-741B-98D7-FA7D0099641E}"/>
              </a:ext>
            </a:extLst>
          </p:cNvPr>
          <p:cNvSpPr/>
          <p:nvPr/>
        </p:nvSpPr>
        <p:spPr>
          <a:xfrm>
            <a:off x="5337334" y="2904173"/>
            <a:ext cx="3012877" cy="669608"/>
          </a:xfrm>
          <a:prstGeom prst="rect">
            <a:avLst/>
          </a:prstGeom>
          <a:noFill/>
          <a:ln/>
        </p:spPr>
        <p:txBody>
          <a:bodyPr wrap="squar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Domain-Specific Feature Creation</a:t>
            </a:r>
            <a:endParaRPr lang="en-US" sz="2100" dirty="0"/>
          </a:p>
        </p:txBody>
      </p:sp>
      <p:sp>
        <p:nvSpPr>
          <p:cNvPr id="11" name="Text 8">
            <a:extLst>
              <a:ext uri="{FF2B5EF4-FFF2-40B4-BE49-F238E27FC236}">
                <a16:creationId xmlns:a16="http://schemas.microsoft.com/office/drawing/2014/main" id="{7FEC71EE-D113-FA7C-4AD2-89D41726E54A}"/>
              </a:ext>
            </a:extLst>
          </p:cNvPr>
          <p:cNvSpPr/>
          <p:nvPr/>
        </p:nvSpPr>
        <p:spPr>
          <a:xfrm>
            <a:off x="5337334" y="3696176"/>
            <a:ext cx="3012877" cy="1960245"/>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Constructed new variables such as total minimum stay cost, occupancy rates, and annual revenue potential to capture deeper insights tied to pricing and demand dynamics.</a:t>
            </a:r>
            <a:endParaRPr lang="en-US" sz="1600" dirty="0"/>
          </a:p>
        </p:txBody>
      </p:sp>
      <p:sp>
        <p:nvSpPr>
          <p:cNvPr id="12" name="Shape 9">
            <a:extLst>
              <a:ext uri="{FF2B5EF4-FFF2-40B4-BE49-F238E27FC236}">
                <a16:creationId xmlns:a16="http://schemas.microsoft.com/office/drawing/2014/main" id="{84B98AF1-B0BB-045F-184B-457506567A23}"/>
              </a:ext>
            </a:extLst>
          </p:cNvPr>
          <p:cNvSpPr/>
          <p:nvPr/>
        </p:nvSpPr>
        <p:spPr>
          <a:xfrm>
            <a:off x="793790" y="6090047"/>
            <a:ext cx="459224" cy="459224"/>
          </a:xfrm>
          <a:prstGeom prst="roundRect">
            <a:avLst>
              <a:gd name="adj" fmla="val 18671"/>
            </a:avLst>
          </a:prstGeom>
          <a:solidFill>
            <a:srgbClr val="CCEEFF"/>
          </a:solidFill>
          <a:ln w="7620">
            <a:solidFill>
              <a:srgbClr val="B2D4E5"/>
            </a:solidFill>
            <a:prstDash val="solid"/>
          </a:ln>
        </p:spPr>
        <p:txBody>
          <a:bodyPr/>
          <a:lstStyle/>
          <a:p>
            <a:endParaRPr lang="en-US"/>
          </a:p>
        </p:txBody>
      </p:sp>
      <p:sp>
        <p:nvSpPr>
          <p:cNvPr id="13" name="Text 10">
            <a:extLst>
              <a:ext uri="{FF2B5EF4-FFF2-40B4-BE49-F238E27FC236}">
                <a16:creationId xmlns:a16="http://schemas.microsoft.com/office/drawing/2014/main" id="{F47768AE-314B-7CC5-6F35-3EE20D7C2EC8}"/>
              </a:ext>
            </a:extLst>
          </p:cNvPr>
          <p:cNvSpPr/>
          <p:nvPr/>
        </p:nvSpPr>
        <p:spPr>
          <a:xfrm>
            <a:off x="862608" y="6118681"/>
            <a:ext cx="321469" cy="401836"/>
          </a:xfrm>
          <a:prstGeom prst="rect">
            <a:avLst/>
          </a:prstGeom>
          <a:noFill/>
          <a:ln/>
        </p:spPr>
        <p:txBody>
          <a:bodyPr wrap="none" lIns="0" tIns="0" rIns="0" bIns="0" rtlCol="0" anchor="t"/>
          <a:lstStyle/>
          <a:p>
            <a:pPr marL="0" indent="0" algn="ctr">
              <a:lnSpc>
                <a:spcPts val="2500"/>
              </a:lnSpc>
              <a:buNone/>
            </a:pPr>
            <a:r>
              <a:rPr lang="en-US" sz="2500" b="1" dirty="0">
                <a:solidFill>
                  <a:srgbClr val="272525"/>
                </a:solidFill>
                <a:latin typeface="Petrona Bold" pitchFamily="34" charset="0"/>
                <a:ea typeface="Petrona Bold" pitchFamily="34" charset="-122"/>
                <a:cs typeface="Petrona Bold" pitchFamily="34" charset="-120"/>
              </a:rPr>
              <a:t>3</a:t>
            </a:r>
            <a:endParaRPr lang="en-US" sz="2500" dirty="0"/>
          </a:p>
        </p:txBody>
      </p:sp>
      <p:sp>
        <p:nvSpPr>
          <p:cNvPr id="14" name="Text 11">
            <a:extLst>
              <a:ext uri="{FF2B5EF4-FFF2-40B4-BE49-F238E27FC236}">
                <a16:creationId xmlns:a16="http://schemas.microsoft.com/office/drawing/2014/main" id="{EA63384A-2E2B-EB9A-2EA2-35374EE1D1F9}"/>
              </a:ext>
            </a:extLst>
          </p:cNvPr>
          <p:cNvSpPr/>
          <p:nvPr/>
        </p:nvSpPr>
        <p:spPr>
          <a:xfrm>
            <a:off x="1457087" y="6090047"/>
            <a:ext cx="3471863" cy="334804"/>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Scaling and Standardization</a:t>
            </a:r>
            <a:endParaRPr lang="en-US" sz="2100" dirty="0"/>
          </a:p>
        </p:txBody>
      </p:sp>
      <p:sp>
        <p:nvSpPr>
          <p:cNvPr id="15" name="Text 12">
            <a:extLst>
              <a:ext uri="{FF2B5EF4-FFF2-40B4-BE49-F238E27FC236}">
                <a16:creationId xmlns:a16="http://schemas.microsoft.com/office/drawing/2014/main" id="{E2F95295-F51C-69D2-8099-D5BCB98A7FF8}"/>
              </a:ext>
            </a:extLst>
          </p:cNvPr>
          <p:cNvSpPr/>
          <p:nvPr/>
        </p:nvSpPr>
        <p:spPr>
          <a:xfrm>
            <a:off x="1457087" y="6547247"/>
            <a:ext cx="6893123" cy="653415"/>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Ensured numerical features were normalized to improve model stability and convergence across regression and classification tasks.</a:t>
            </a:r>
            <a:endParaRPr lang="en-US" sz="1600" dirty="0"/>
          </a:p>
        </p:txBody>
      </p:sp>
    </p:spTree>
    <p:extLst>
      <p:ext uri="{BB962C8B-B14F-4D97-AF65-F5344CB8AC3E}">
        <p14:creationId xmlns:p14="http://schemas.microsoft.com/office/powerpoint/2010/main" val="21771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7362" y="1535946"/>
            <a:ext cx="130428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Modeling Approaches: Regression , Classification</a:t>
            </a:r>
          </a:p>
          <a:p>
            <a:pPr marL="0" indent="0" algn="l">
              <a:lnSpc>
                <a:spcPts val="5850"/>
              </a:lnSpc>
              <a:buNone/>
            </a:pPr>
            <a:r>
              <a:rPr lang="en-US" sz="4650" b="1" dirty="0">
                <a:solidFill>
                  <a:srgbClr val="000000"/>
                </a:solidFill>
                <a:latin typeface="Petrona Bold" pitchFamily="34" charset="0"/>
                <a:ea typeface="Petrona Bold" pitchFamily="34" charset="-122"/>
              </a:rPr>
              <a:t>And Clustering</a:t>
            </a:r>
            <a:endParaRPr lang="en-US" sz="4650" dirty="0"/>
          </a:p>
        </p:txBody>
      </p:sp>
      <p:sp>
        <p:nvSpPr>
          <p:cNvPr id="3" name="Text 1"/>
          <p:cNvSpPr/>
          <p:nvPr/>
        </p:nvSpPr>
        <p:spPr>
          <a:xfrm>
            <a:off x="793790" y="3610590"/>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Regression</a:t>
            </a:r>
            <a:endParaRPr lang="en-US" sz="2300" dirty="0"/>
          </a:p>
        </p:txBody>
      </p:sp>
      <p:sp>
        <p:nvSpPr>
          <p:cNvPr id="4" name="Text 2"/>
          <p:cNvSpPr/>
          <p:nvPr/>
        </p:nvSpPr>
        <p:spPr>
          <a:xfrm>
            <a:off x="793790" y="4660782"/>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Predict continuous price values based on listing and host characteristics.</a:t>
            </a:r>
            <a:endParaRPr lang="en-US" sz="1750" dirty="0"/>
          </a:p>
        </p:txBody>
      </p:sp>
      <p:sp>
        <p:nvSpPr>
          <p:cNvPr id="5" name="Text 3"/>
          <p:cNvSpPr/>
          <p:nvPr/>
        </p:nvSpPr>
        <p:spPr>
          <a:xfrm>
            <a:off x="5332928" y="3578692"/>
            <a:ext cx="2977039" cy="598884"/>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Binary Classification &amp;</a:t>
            </a:r>
          </a:p>
          <a:p>
            <a:pPr>
              <a:lnSpc>
                <a:spcPts val="2900"/>
              </a:lnSpc>
            </a:pPr>
            <a:r>
              <a:rPr lang="en-US" sz="2300" b="1" dirty="0">
                <a:solidFill>
                  <a:srgbClr val="000000"/>
                </a:solidFill>
                <a:latin typeface="Petrona Bold" pitchFamily="34" charset="0"/>
                <a:ea typeface="Petrona Bold" pitchFamily="34" charset="-122"/>
                <a:cs typeface="Petrona Bold" pitchFamily="34" charset="-120"/>
              </a:rPr>
              <a:t>Multi-class Classification</a:t>
            </a:r>
            <a:endParaRPr lang="en-US" sz="2300" dirty="0"/>
          </a:p>
          <a:p>
            <a:pPr marL="0" indent="0" algn="l">
              <a:lnSpc>
                <a:spcPts val="2900"/>
              </a:lnSpc>
              <a:buNone/>
            </a:pPr>
            <a:endParaRPr lang="en-US" sz="2300" dirty="0"/>
          </a:p>
        </p:txBody>
      </p:sp>
      <p:sp>
        <p:nvSpPr>
          <p:cNvPr id="6" name="Text 4"/>
          <p:cNvSpPr/>
          <p:nvPr/>
        </p:nvSpPr>
        <p:spPr>
          <a:xfrm>
            <a:off x="5332928" y="4660782"/>
            <a:ext cx="3978116" cy="2399237"/>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sz="1750" dirty="0">
                <a:solidFill>
                  <a:srgbClr val="272525"/>
                </a:solidFill>
                <a:latin typeface="Inter" pitchFamily="34" charset="0"/>
                <a:ea typeface="Inter" pitchFamily="34" charset="-122"/>
                <a:cs typeface="Inter" pitchFamily="34" charset="-120"/>
              </a:rPr>
              <a:t>Classify listings into high versus low price categories to assist pricing segmentation.</a:t>
            </a:r>
          </a:p>
          <a:p>
            <a:pPr marL="285750" indent="-285750">
              <a:lnSpc>
                <a:spcPts val="2850"/>
              </a:lnSpc>
              <a:buFont typeface="Arial" panose="020B0604020202020204" pitchFamily="34" charset="0"/>
              <a:buChar char="•"/>
            </a:pPr>
            <a:r>
              <a:rPr lang="en-US" sz="1750" dirty="0">
                <a:solidFill>
                  <a:srgbClr val="272525"/>
                </a:solidFill>
                <a:latin typeface="Inter" pitchFamily="34" charset="0"/>
                <a:ea typeface="Inter" pitchFamily="34" charset="-122"/>
                <a:cs typeface="Inter" pitchFamily="34" charset="-120"/>
              </a:rPr>
              <a:t>Categorize listings into three price tiers: low, medium, and high for granular price banding.</a:t>
            </a:r>
            <a:endParaRPr lang="en-US" sz="1750" dirty="0"/>
          </a:p>
          <a:p>
            <a:pPr marL="285750" indent="-285750" algn="l">
              <a:lnSpc>
                <a:spcPts val="2850"/>
              </a:lnSpc>
              <a:buFont typeface="Arial" panose="020B0604020202020204" pitchFamily="34" charset="0"/>
              <a:buChar char="•"/>
            </a:pPr>
            <a:endParaRPr lang="en-US" sz="1750" dirty="0">
              <a:solidFill>
                <a:srgbClr val="272525"/>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endParaRPr lang="en-US" sz="1750" dirty="0">
              <a:solidFill>
                <a:srgbClr val="272525"/>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endParaRPr lang="en-US" sz="1750" dirty="0">
              <a:solidFill>
                <a:srgbClr val="272525"/>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br>
              <a:rPr lang="en-US" sz="1750" dirty="0">
                <a:solidFill>
                  <a:srgbClr val="272525"/>
                </a:solidFill>
                <a:latin typeface="Inter" pitchFamily="34" charset="0"/>
                <a:ea typeface="Inter" pitchFamily="34" charset="-122"/>
                <a:cs typeface="Inter" pitchFamily="34" charset="-120"/>
              </a:rPr>
            </a:br>
            <a:endParaRPr lang="en-US" sz="1750" dirty="0"/>
          </a:p>
        </p:txBody>
      </p:sp>
      <p:sp>
        <p:nvSpPr>
          <p:cNvPr id="7" name="Text 5"/>
          <p:cNvSpPr/>
          <p:nvPr/>
        </p:nvSpPr>
        <p:spPr>
          <a:xfrm>
            <a:off x="9872067" y="3610590"/>
            <a:ext cx="3494365"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Clustering</a:t>
            </a:r>
            <a:endParaRPr lang="en-US" sz="2300" dirty="0"/>
          </a:p>
        </p:txBody>
      </p:sp>
      <p:sp>
        <p:nvSpPr>
          <p:cNvPr id="8" name="Text 6"/>
          <p:cNvSpPr/>
          <p:nvPr/>
        </p:nvSpPr>
        <p:spPr>
          <a:xfrm>
            <a:off x="9872067" y="4660781"/>
            <a:ext cx="4620110" cy="2207851"/>
          </a:xfrm>
          <a:prstGeom prst="rect">
            <a:avLst/>
          </a:prstGeom>
          <a:noFill/>
          <a:ln/>
        </p:spPr>
        <p:txBody>
          <a:bodyPr wrap="square" lIns="0" tIns="0" rIns="0" bIns="0" rtlCol="0" anchor="t"/>
          <a:lstStyle/>
          <a:p>
            <a:pPr lvl="1" indent="-342900" defTabSz="914400" eaLnBrk="0" fontAlgn="base" hangingPunct="0">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Segment listings via clustering</a:t>
            </a:r>
          </a:p>
          <a:p>
            <a:pPr lvl="1" indent="-342900" defTabSz="914400" eaLnBrk="0" fontAlgn="base" hangingPunct="0">
              <a:spcBef>
                <a:spcPct val="0"/>
              </a:spcBef>
              <a:spcAft>
                <a:spcPct val="0"/>
              </a:spcAft>
              <a:buClrTx/>
              <a:buSz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Group listings into meaningful segments by applying K‑Means on annual income potential, availability ratio, and geographic coordinates</a:t>
            </a:r>
            <a:endPar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DE35E6C4-AC1E-4FA5-AA0D-F67A5217E1BA}"/>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775829"/>
            <a:ext cx="11527631"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Regression Model Performance Highlights</a:t>
            </a:r>
            <a:endParaRPr lang="en-US" sz="4650" dirty="0"/>
          </a:p>
        </p:txBody>
      </p:sp>
      <p:sp>
        <p:nvSpPr>
          <p:cNvPr id="4" name="Shape 1"/>
          <p:cNvSpPr/>
          <p:nvPr/>
        </p:nvSpPr>
        <p:spPr>
          <a:xfrm>
            <a:off x="793790" y="4860250"/>
            <a:ext cx="4196358" cy="2428637"/>
          </a:xfrm>
          <a:prstGeom prst="roundRect">
            <a:avLst>
              <a:gd name="adj" fmla="val 3923"/>
            </a:avLst>
          </a:prstGeom>
          <a:solidFill>
            <a:srgbClr val="CCEEFF"/>
          </a:solidFill>
          <a:ln w="7620">
            <a:solidFill>
              <a:srgbClr val="B2D4E5"/>
            </a:solidFill>
            <a:prstDash val="solid"/>
          </a:ln>
        </p:spPr>
        <p:txBody>
          <a:bodyPr/>
          <a:lstStyle/>
          <a:p>
            <a:endParaRPr lang="en-US"/>
          </a:p>
        </p:txBody>
      </p:sp>
      <p:sp>
        <p:nvSpPr>
          <p:cNvPr id="5" name="Text 2"/>
          <p:cNvSpPr/>
          <p:nvPr/>
        </p:nvSpPr>
        <p:spPr>
          <a:xfrm>
            <a:off x="1028224" y="509468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Top Accuracy</a:t>
            </a:r>
            <a:endParaRPr lang="en-US" sz="2300" dirty="0"/>
          </a:p>
        </p:txBody>
      </p:sp>
      <p:sp>
        <p:nvSpPr>
          <p:cNvPr id="6" name="Text 3"/>
          <p:cNvSpPr/>
          <p:nvPr/>
        </p:nvSpPr>
        <p:spPr>
          <a:xfrm>
            <a:off x="1028224" y="5602843"/>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RandomForest and XGBoost demonstrated exceptional predictive accuracy with R² scores above 0.95 and low RMSE.</a:t>
            </a:r>
            <a:endParaRPr lang="en-US" sz="1750" dirty="0"/>
          </a:p>
        </p:txBody>
      </p:sp>
      <p:sp>
        <p:nvSpPr>
          <p:cNvPr id="7" name="Shape 4"/>
          <p:cNvSpPr/>
          <p:nvPr/>
        </p:nvSpPr>
        <p:spPr>
          <a:xfrm>
            <a:off x="5216962" y="4860250"/>
            <a:ext cx="4196358" cy="2428637"/>
          </a:xfrm>
          <a:prstGeom prst="roundRect">
            <a:avLst>
              <a:gd name="adj" fmla="val 3923"/>
            </a:avLst>
          </a:prstGeom>
          <a:solidFill>
            <a:srgbClr val="CCEEFF"/>
          </a:solidFill>
          <a:ln w="7620">
            <a:solidFill>
              <a:srgbClr val="B2D4E5"/>
            </a:solidFill>
            <a:prstDash val="solid"/>
          </a:ln>
        </p:spPr>
        <p:txBody>
          <a:bodyPr/>
          <a:lstStyle/>
          <a:p>
            <a:endParaRPr lang="en-US"/>
          </a:p>
        </p:txBody>
      </p:sp>
      <p:sp>
        <p:nvSpPr>
          <p:cNvPr id="8" name="Text 5"/>
          <p:cNvSpPr/>
          <p:nvPr/>
        </p:nvSpPr>
        <p:spPr>
          <a:xfrm>
            <a:off x="5451396" y="5094684"/>
            <a:ext cx="2999542"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Speed vs Performance</a:t>
            </a:r>
            <a:endParaRPr lang="en-US" sz="2300" dirty="0"/>
          </a:p>
        </p:txBody>
      </p:sp>
      <p:sp>
        <p:nvSpPr>
          <p:cNvPr id="9" name="Text 6"/>
          <p:cNvSpPr/>
          <p:nvPr/>
        </p:nvSpPr>
        <p:spPr>
          <a:xfrm>
            <a:off x="5451396" y="5602843"/>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Ridge regression was the fastest with a good accuracy trade-off, while Lasso and ElasticNet showed poor predictive power.</a:t>
            </a:r>
            <a:endParaRPr lang="en-US" sz="1750" dirty="0"/>
          </a:p>
        </p:txBody>
      </p:sp>
      <p:sp>
        <p:nvSpPr>
          <p:cNvPr id="10" name="Shape 7"/>
          <p:cNvSpPr/>
          <p:nvPr/>
        </p:nvSpPr>
        <p:spPr>
          <a:xfrm>
            <a:off x="9640133" y="4860250"/>
            <a:ext cx="4196358" cy="2428637"/>
          </a:xfrm>
          <a:prstGeom prst="roundRect">
            <a:avLst>
              <a:gd name="adj" fmla="val 3923"/>
            </a:avLst>
          </a:prstGeom>
          <a:solidFill>
            <a:srgbClr val="CCEEFF"/>
          </a:solidFill>
          <a:ln w="7620">
            <a:solidFill>
              <a:srgbClr val="B2D4E5"/>
            </a:solidFill>
            <a:prstDash val="solid"/>
          </a:ln>
        </p:spPr>
        <p:txBody>
          <a:bodyPr/>
          <a:lstStyle/>
          <a:p>
            <a:endParaRPr lang="en-US"/>
          </a:p>
        </p:txBody>
      </p:sp>
      <p:sp>
        <p:nvSpPr>
          <p:cNvPr id="11" name="Text 8"/>
          <p:cNvSpPr/>
          <p:nvPr/>
        </p:nvSpPr>
        <p:spPr>
          <a:xfrm>
            <a:off x="9874568" y="509468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Insights</a:t>
            </a:r>
            <a:endParaRPr lang="en-US" sz="2300" dirty="0"/>
          </a:p>
        </p:txBody>
      </p:sp>
      <p:sp>
        <p:nvSpPr>
          <p:cNvPr id="12" name="Text 9"/>
          <p:cNvSpPr/>
          <p:nvPr/>
        </p:nvSpPr>
        <p:spPr>
          <a:xfrm>
            <a:off x="9874568" y="5602843"/>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Tree-based ensemble methods excelled in capturing nonlinear relationships and complex feature interactions in pricing data.</a:t>
            </a:r>
            <a:endParaRPr lang="en-US" sz="1750" dirty="0"/>
          </a:p>
        </p:txBody>
      </p:sp>
      <p:sp>
        <p:nvSpPr>
          <p:cNvPr id="13" name="Rectangle 12">
            <a:extLst>
              <a:ext uri="{FF2B5EF4-FFF2-40B4-BE49-F238E27FC236}">
                <a16:creationId xmlns:a16="http://schemas.microsoft.com/office/drawing/2014/main" id="{31466DB1-0932-4B57-92C3-4016BFB4ED72}"/>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13303"/>
            <a:ext cx="11484650" cy="706993"/>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Petrona Bold" pitchFamily="34" charset="0"/>
                <a:ea typeface="Petrona Bold" pitchFamily="34" charset="-122"/>
                <a:cs typeface="Petrona Bold" pitchFamily="34" charset="-120"/>
              </a:rPr>
              <a:t>Classification Model Performance Summary</a:t>
            </a:r>
            <a:endParaRPr lang="en-US" sz="4450" dirty="0"/>
          </a:p>
        </p:txBody>
      </p:sp>
      <p:pic>
        <p:nvPicPr>
          <p:cNvPr id="3" name="Image 0" descr="preencoded.png"/>
          <p:cNvPicPr>
            <a:picLocks noChangeAspect="1"/>
          </p:cNvPicPr>
          <p:nvPr/>
        </p:nvPicPr>
        <p:blipFill>
          <a:blip r:embed="rId3"/>
          <a:stretch>
            <a:fillRect/>
          </a:stretch>
        </p:blipFill>
        <p:spPr>
          <a:xfrm>
            <a:off x="3597950" y="3799046"/>
            <a:ext cx="7434382" cy="7434382"/>
          </a:xfrm>
          <a:prstGeom prst="rect">
            <a:avLst/>
          </a:prstGeom>
        </p:spPr>
      </p:pic>
      <p:pic>
        <p:nvPicPr>
          <p:cNvPr id="4" name="Image 1" descr="preencoded.png"/>
          <p:cNvPicPr>
            <a:picLocks noChangeAspect="1"/>
          </p:cNvPicPr>
          <p:nvPr/>
        </p:nvPicPr>
        <p:blipFill>
          <a:blip r:embed="rId4"/>
          <a:stretch>
            <a:fillRect/>
          </a:stretch>
        </p:blipFill>
        <p:spPr>
          <a:xfrm>
            <a:off x="4718923" y="5894903"/>
            <a:ext cx="363617" cy="454462"/>
          </a:xfrm>
          <a:prstGeom prst="rect">
            <a:avLst/>
          </a:prstGeom>
        </p:spPr>
      </p:pic>
      <p:pic>
        <p:nvPicPr>
          <p:cNvPr id="5" name="Image 2" descr="preencoded.png"/>
          <p:cNvPicPr>
            <a:picLocks noChangeAspect="1"/>
          </p:cNvPicPr>
          <p:nvPr/>
        </p:nvPicPr>
        <p:blipFill>
          <a:blip r:embed="rId5"/>
          <a:stretch>
            <a:fillRect/>
          </a:stretch>
        </p:blipFill>
        <p:spPr>
          <a:xfrm>
            <a:off x="3597950" y="3799046"/>
            <a:ext cx="7434382" cy="7434382"/>
          </a:xfrm>
          <a:prstGeom prst="rect">
            <a:avLst/>
          </a:prstGeom>
        </p:spPr>
      </p:pic>
      <p:pic>
        <p:nvPicPr>
          <p:cNvPr id="6" name="Image 3" descr="preencoded.png"/>
          <p:cNvPicPr>
            <a:picLocks noChangeAspect="1"/>
          </p:cNvPicPr>
          <p:nvPr/>
        </p:nvPicPr>
        <p:blipFill>
          <a:blip r:embed="rId6"/>
          <a:stretch>
            <a:fillRect/>
          </a:stretch>
        </p:blipFill>
        <p:spPr>
          <a:xfrm>
            <a:off x="7133273" y="4501039"/>
            <a:ext cx="363617" cy="454462"/>
          </a:xfrm>
          <a:prstGeom prst="rect">
            <a:avLst/>
          </a:prstGeom>
        </p:spPr>
      </p:pic>
      <p:pic>
        <p:nvPicPr>
          <p:cNvPr id="7" name="Image 4" descr="preencoded.png"/>
          <p:cNvPicPr>
            <a:picLocks noChangeAspect="1"/>
          </p:cNvPicPr>
          <p:nvPr/>
        </p:nvPicPr>
        <p:blipFill>
          <a:blip r:embed="rId7"/>
          <a:stretch>
            <a:fillRect/>
          </a:stretch>
        </p:blipFill>
        <p:spPr>
          <a:xfrm>
            <a:off x="3597950" y="3799046"/>
            <a:ext cx="7434382" cy="7434382"/>
          </a:xfrm>
          <a:prstGeom prst="rect">
            <a:avLst/>
          </a:prstGeom>
        </p:spPr>
      </p:pic>
      <p:pic>
        <p:nvPicPr>
          <p:cNvPr id="8" name="Image 5" descr="preencoded.png"/>
          <p:cNvPicPr>
            <a:picLocks noChangeAspect="1"/>
          </p:cNvPicPr>
          <p:nvPr/>
        </p:nvPicPr>
        <p:blipFill>
          <a:blip r:embed="rId8"/>
          <a:stretch>
            <a:fillRect/>
          </a:stretch>
        </p:blipFill>
        <p:spPr>
          <a:xfrm>
            <a:off x="9547503" y="5894903"/>
            <a:ext cx="363617" cy="454462"/>
          </a:xfrm>
          <a:prstGeom prst="rect">
            <a:avLst/>
          </a:prstGeom>
        </p:spPr>
      </p:pic>
      <p:sp>
        <p:nvSpPr>
          <p:cNvPr id="9" name="Text 1"/>
          <p:cNvSpPr/>
          <p:nvPr/>
        </p:nvSpPr>
        <p:spPr>
          <a:xfrm>
            <a:off x="1445776" y="2966323"/>
            <a:ext cx="2828211" cy="353378"/>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Petrona Bold" pitchFamily="34" charset="0"/>
                <a:ea typeface="Petrona Bold" pitchFamily="34" charset="-122"/>
                <a:cs typeface="Petrona Bold" pitchFamily="34" charset="-120"/>
              </a:rPr>
              <a:t>Best Performer</a:t>
            </a:r>
            <a:endParaRPr lang="en-US" sz="2200" dirty="0"/>
          </a:p>
        </p:txBody>
      </p:sp>
      <p:sp>
        <p:nvSpPr>
          <p:cNvPr id="10" name="Text 2"/>
          <p:cNvSpPr/>
          <p:nvPr/>
        </p:nvSpPr>
        <p:spPr>
          <a:xfrm>
            <a:off x="793790" y="3448883"/>
            <a:ext cx="4132183" cy="1034415"/>
          </a:xfrm>
          <a:prstGeom prst="rect">
            <a:avLst/>
          </a:prstGeom>
          <a:noFill/>
          <a:ln/>
        </p:spPr>
        <p:txBody>
          <a:bodyPr wrap="square" lIns="0" tIns="0" rIns="0" bIns="0" rtlCol="0" anchor="t"/>
          <a:lstStyle/>
          <a:p>
            <a:pPr marL="0" indent="0" algn="ctr">
              <a:lnSpc>
                <a:spcPts val="2700"/>
              </a:lnSpc>
              <a:buNone/>
            </a:pPr>
            <a:r>
              <a:rPr lang="en-US" sz="1650" dirty="0">
                <a:solidFill>
                  <a:srgbClr val="272525"/>
                </a:solidFill>
                <a:latin typeface="Inter" pitchFamily="34" charset="0"/>
                <a:ea typeface="Inter" pitchFamily="34" charset="-122"/>
                <a:cs typeface="Inter" pitchFamily="34" charset="-120"/>
              </a:rPr>
              <a:t>LightGBM led binary classification with accuracy of 82.7% and strong F1 scores, balancing speed and precision.</a:t>
            </a:r>
            <a:endParaRPr lang="en-US" sz="1650" dirty="0"/>
          </a:p>
        </p:txBody>
      </p:sp>
      <p:sp>
        <p:nvSpPr>
          <p:cNvPr id="11" name="Text 3"/>
          <p:cNvSpPr/>
          <p:nvPr/>
        </p:nvSpPr>
        <p:spPr>
          <a:xfrm>
            <a:off x="5901095" y="1851184"/>
            <a:ext cx="2828211" cy="353378"/>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Petrona Bold" pitchFamily="34" charset="0"/>
                <a:ea typeface="Petrona Bold" pitchFamily="34" charset="-122"/>
                <a:cs typeface="Petrona Bold" pitchFamily="34" charset="-120"/>
              </a:rPr>
              <a:t>Balanced Models</a:t>
            </a:r>
            <a:endParaRPr lang="en-US" sz="2200" dirty="0"/>
          </a:p>
        </p:txBody>
      </p:sp>
      <p:sp>
        <p:nvSpPr>
          <p:cNvPr id="12" name="Text 4"/>
          <p:cNvSpPr/>
          <p:nvPr/>
        </p:nvSpPr>
        <p:spPr>
          <a:xfrm>
            <a:off x="5249108" y="2333744"/>
            <a:ext cx="4132183" cy="1034415"/>
          </a:xfrm>
          <a:prstGeom prst="rect">
            <a:avLst/>
          </a:prstGeom>
          <a:noFill/>
          <a:ln/>
        </p:spPr>
        <p:txBody>
          <a:bodyPr wrap="square" lIns="0" tIns="0" rIns="0" bIns="0" rtlCol="0" anchor="t"/>
          <a:lstStyle/>
          <a:p>
            <a:pPr marL="0" indent="0" algn="ctr">
              <a:lnSpc>
                <a:spcPts val="2700"/>
              </a:lnSpc>
              <a:buNone/>
            </a:pPr>
            <a:r>
              <a:rPr lang="en-US" sz="1650" dirty="0">
                <a:solidFill>
                  <a:srgbClr val="272525"/>
                </a:solidFill>
                <a:latin typeface="Inter" pitchFamily="34" charset="0"/>
                <a:ea typeface="Inter" pitchFamily="34" charset="-122"/>
                <a:cs typeface="Inter" pitchFamily="34" charset="-120"/>
              </a:rPr>
              <a:t>GBM and CatBoost closely matched LightGBM’s performance, demonstrating consistency across boosting algorithms.</a:t>
            </a:r>
            <a:endParaRPr lang="en-US" sz="1650" dirty="0"/>
          </a:p>
        </p:txBody>
      </p:sp>
      <p:sp>
        <p:nvSpPr>
          <p:cNvPr id="13" name="Text 5"/>
          <p:cNvSpPr/>
          <p:nvPr/>
        </p:nvSpPr>
        <p:spPr>
          <a:xfrm>
            <a:off x="10356413" y="2966323"/>
            <a:ext cx="2828211" cy="353378"/>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Petrona Bold" pitchFamily="34" charset="0"/>
                <a:ea typeface="Petrona Bold" pitchFamily="34" charset="-122"/>
                <a:cs typeface="Petrona Bold" pitchFamily="34" charset="-120"/>
              </a:rPr>
              <a:t>Trade-offs</a:t>
            </a:r>
            <a:endParaRPr lang="en-US" sz="2200" dirty="0"/>
          </a:p>
        </p:txBody>
      </p:sp>
      <p:sp>
        <p:nvSpPr>
          <p:cNvPr id="14" name="Text 6"/>
          <p:cNvSpPr/>
          <p:nvPr/>
        </p:nvSpPr>
        <p:spPr>
          <a:xfrm>
            <a:off x="9704427" y="3448883"/>
            <a:ext cx="4132183" cy="1034415"/>
          </a:xfrm>
          <a:prstGeom prst="rect">
            <a:avLst/>
          </a:prstGeom>
          <a:noFill/>
          <a:ln/>
        </p:spPr>
        <p:txBody>
          <a:bodyPr wrap="square" lIns="0" tIns="0" rIns="0" bIns="0" rtlCol="0" anchor="t"/>
          <a:lstStyle/>
          <a:p>
            <a:pPr marL="0" indent="0" algn="ctr">
              <a:lnSpc>
                <a:spcPts val="2700"/>
              </a:lnSpc>
              <a:buNone/>
            </a:pPr>
            <a:r>
              <a:rPr lang="en-US" sz="1650" dirty="0">
                <a:solidFill>
                  <a:srgbClr val="272525"/>
                </a:solidFill>
                <a:latin typeface="Inter" pitchFamily="34" charset="0"/>
                <a:ea typeface="Inter" pitchFamily="34" charset="-122"/>
                <a:cs typeface="Inter" pitchFamily="34" charset="-120"/>
              </a:rPr>
              <a:t>Naive Bayes was fastest but least accurate; SVM offered decent accuracy but had prohibitive training times.</a:t>
            </a:r>
            <a:endParaRPr lang="en-US" sz="1650" dirty="0"/>
          </a:p>
        </p:txBody>
      </p:sp>
      <p:sp>
        <p:nvSpPr>
          <p:cNvPr id="15" name="Rectangle 14">
            <a:extLst>
              <a:ext uri="{FF2B5EF4-FFF2-40B4-BE49-F238E27FC236}">
                <a16:creationId xmlns:a16="http://schemas.microsoft.com/office/drawing/2014/main" id="{878D0C73-2249-49F7-98AF-7C5EC6C9395C}"/>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13303"/>
            <a:ext cx="11484650" cy="706993"/>
          </a:xfrm>
          <a:prstGeom prst="rect">
            <a:avLst/>
          </a:prstGeom>
          <a:noFill/>
          <a:ln/>
        </p:spPr>
        <p:txBody>
          <a:bodyPr wrap="none" lIns="0" tIns="0" rIns="0" bIns="0" rtlCol="0" anchor="t"/>
          <a:lstStyle/>
          <a:p>
            <a:r>
              <a:rPr lang="en-US" sz="4800" b="1" dirty="0"/>
              <a:t>Clustering Model Performance Summary</a:t>
            </a:r>
          </a:p>
        </p:txBody>
      </p:sp>
      <p:pic>
        <p:nvPicPr>
          <p:cNvPr id="3" name="Image 0" descr="preencoded.png"/>
          <p:cNvPicPr>
            <a:picLocks noChangeAspect="1"/>
          </p:cNvPicPr>
          <p:nvPr/>
        </p:nvPicPr>
        <p:blipFill>
          <a:blip r:embed="rId3"/>
          <a:stretch>
            <a:fillRect/>
          </a:stretch>
        </p:blipFill>
        <p:spPr>
          <a:xfrm>
            <a:off x="3597950" y="3799046"/>
            <a:ext cx="7434382" cy="7434382"/>
          </a:xfrm>
          <a:prstGeom prst="rect">
            <a:avLst/>
          </a:prstGeom>
        </p:spPr>
      </p:pic>
      <p:pic>
        <p:nvPicPr>
          <p:cNvPr id="4" name="Image 1" descr="preencoded.png"/>
          <p:cNvPicPr>
            <a:picLocks noChangeAspect="1"/>
          </p:cNvPicPr>
          <p:nvPr/>
        </p:nvPicPr>
        <p:blipFill>
          <a:blip r:embed="rId4"/>
          <a:stretch>
            <a:fillRect/>
          </a:stretch>
        </p:blipFill>
        <p:spPr>
          <a:xfrm>
            <a:off x="4718923" y="5894903"/>
            <a:ext cx="363617" cy="454462"/>
          </a:xfrm>
          <a:prstGeom prst="rect">
            <a:avLst/>
          </a:prstGeom>
        </p:spPr>
      </p:pic>
      <p:pic>
        <p:nvPicPr>
          <p:cNvPr id="5" name="Image 2" descr="preencoded.png"/>
          <p:cNvPicPr>
            <a:picLocks noChangeAspect="1"/>
          </p:cNvPicPr>
          <p:nvPr/>
        </p:nvPicPr>
        <p:blipFill>
          <a:blip r:embed="rId5"/>
          <a:stretch>
            <a:fillRect/>
          </a:stretch>
        </p:blipFill>
        <p:spPr>
          <a:xfrm>
            <a:off x="3597950" y="3799046"/>
            <a:ext cx="7434382" cy="7434382"/>
          </a:xfrm>
          <a:prstGeom prst="rect">
            <a:avLst/>
          </a:prstGeom>
        </p:spPr>
      </p:pic>
      <p:pic>
        <p:nvPicPr>
          <p:cNvPr id="6" name="Image 3" descr="preencoded.png"/>
          <p:cNvPicPr>
            <a:picLocks noChangeAspect="1"/>
          </p:cNvPicPr>
          <p:nvPr/>
        </p:nvPicPr>
        <p:blipFill>
          <a:blip r:embed="rId6"/>
          <a:stretch>
            <a:fillRect/>
          </a:stretch>
        </p:blipFill>
        <p:spPr>
          <a:xfrm>
            <a:off x="7133273" y="4501039"/>
            <a:ext cx="363617" cy="454462"/>
          </a:xfrm>
          <a:prstGeom prst="rect">
            <a:avLst/>
          </a:prstGeom>
        </p:spPr>
      </p:pic>
      <p:pic>
        <p:nvPicPr>
          <p:cNvPr id="7" name="Image 4" descr="preencoded.png"/>
          <p:cNvPicPr>
            <a:picLocks noChangeAspect="1"/>
          </p:cNvPicPr>
          <p:nvPr/>
        </p:nvPicPr>
        <p:blipFill>
          <a:blip r:embed="rId7"/>
          <a:stretch>
            <a:fillRect/>
          </a:stretch>
        </p:blipFill>
        <p:spPr>
          <a:xfrm>
            <a:off x="3597950" y="3799046"/>
            <a:ext cx="7434382" cy="7434382"/>
          </a:xfrm>
          <a:prstGeom prst="rect">
            <a:avLst/>
          </a:prstGeom>
        </p:spPr>
      </p:pic>
      <p:pic>
        <p:nvPicPr>
          <p:cNvPr id="8" name="Image 5" descr="preencoded.png"/>
          <p:cNvPicPr>
            <a:picLocks noChangeAspect="1"/>
          </p:cNvPicPr>
          <p:nvPr/>
        </p:nvPicPr>
        <p:blipFill>
          <a:blip r:embed="rId8"/>
          <a:stretch>
            <a:fillRect/>
          </a:stretch>
        </p:blipFill>
        <p:spPr>
          <a:xfrm>
            <a:off x="9547503" y="5894903"/>
            <a:ext cx="363617" cy="454462"/>
          </a:xfrm>
          <a:prstGeom prst="rect">
            <a:avLst/>
          </a:prstGeom>
        </p:spPr>
      </p:pic>
      <p:sp>
        <p:nvSpPr>
          <p:cNvPr id="9" name="Text 1"/>
          <p:cNvSpPr/>
          <p:nvPr/>
        </p:nvSpPr>
        <p:spPr>
          <a:xfrm>
            <a:off x="1445776" y="2966323"/>
            <a:ext cx="2828211" cy="353378"/>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Petrona Bold" pitchFamily="34" charset="0"/>
                <a:ea typeface="Petrona Bold" pitchFamily="34" charset="-122"/>
                <a:cs typeface="Petrona Bold" pitchFamily="34" charset="-120"/>
              </a:rPr>
              <a:t>Best Performer</a:t>
            </a:r>
            <a:endParaRPr lang="en-US" sz="2200" dirty="0"/>
          </a:p>
        </p:txBody>
      </p:sp>
      <p:sp>
        <p:nvSpPr>
          <p:cNvPr id="10" name="Text 2"/>
          <p:cNvSpPr/>
          <p:nvPr/>
        </p:nvSpPr>
        <p:spPr>
          <a:xfrm>
            <a:off x="793790" y="3448883"/>
            <a:ext cx="4132183" cy="1416845"/>
          </a:xfrm>
          <a:prstGeom prst="rect">
            <a:avLst/>
          </a:prstGeom>
          <a:noFill/>
          <a:ln/>
        </p:spPr>
        <p:txBody>
          <a:bodyPr wrap="square" lIns="0" tIns="0" rIns="0" bIns="0" rtlCol="0" anchor="t"/>
          <a:lstStyle/>
          <a:p>
            <a:pPr marL="0" indent="0" algn="ctr">
              <a:lnSpc>
                <a:spcPts val="2700"/>
              </a:lnSpc>
              <a:buNone/>
            </a:pPr>
            <a:r>
              <a:rPr lang="en-US" dirty="0">
                <a:latin typeface="Times New Roman" panose="02020603050405020304" pitchFamily="18" charset="0"/>
                <a:cs typeface="Times New Roman" panose="02020603050405020304" pitchFamily="18" charset="0"/>
              </a:rPr>
              <a:t>K-Means with 3 clusters provided the optimal segmentation with a silhouette score of 0.2637, effectively identifying distinct property segments in 625 seconds.</a:t>
            </a:r>
          </a:p>
        </p:txBody>
      </p:sp>
      <p:sp>
        <p:nvSpPr>
          <p:cNvPr id="11" name="Text 3"/>
          <p:cNvSpPr/>
          <p:nvPr/>
        </p:nvSpPr>
        <p:spPr>
          <a:xfrm>
            <a:off x="5901095" y="1851184"/>
            <a:ext cx="2828211" cy="353378"/>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Petrona Bold" pitchFamily="34" charset="0"/>
                <a:ea typeface="Petrona Bold" pitchFamily="34" charset="-122"/>
                <a:cs typeface="Petrona Bold" pitchFamily="34" charset="-120"/>
              </a:rPr>
              <a:t>Balanced Models</a:t>
            </a:r>
            <a:endParaRPr lang="en-US" sz="2200" dirty="0"/>
          </a:p>
        </p:txBody>
      </p:sp>
      <p:sp>
        <p:nvSpPr>
          <p:cNvPr id="12" name="Text 4"/>
          <p:cNvSpPr/>
          <p:nvPr/>
        </p:nvSpPr>
        <p:spPr>
          <a:xfrm>
            <a:off x="5249108" y="2333744"/>
            <a:ext cx="4132183" cy="1034415"/>
          </a:xfrm>
          <a:prstGeom prst="rect">
            <a:avLst/>
          </a:prstGeom>
          <a:noFill/>
          <a:ln/>
        </p:spPr>
        <p:txBody>
          <a:bodyPr wrap="square" lIns="0" tIns="0" rIns="0" bIns="0" rtlCol="0" anchor="t"/>
          <a:lstStyle/>
          <a:p>
            <a:r>
              <a:rPr lang="en-US" dirty="0">
                <a:latin typeface="Times New Roman" panose="02020603050405020304" pitchFamily="18" charset="0"/>
                <a:ea typeface="Inter" panose="020B0604020202020204" charset="0"/>
                <a:cs typeface="Times New Roman" panose="02020603050405020304" pitchFamily="18" charset="0"/>
              </a:rPr>
              <a:t>K-Means with different k values (2-3) showed consistent performance, with the elbow method suggesting k=2 and silhouette analysis favoring k=3.</a:t>
            </a:r>
          </a:p>
        </p:txBody>
      </p:sp>
      <p:sp>
        <p:nvSpPr>
          <p:cNvPr id="13" name="Text 5"/>
          <p:cNvSpPr/>
          <p:nvPr/>
        </p:nvSpPr>
        <p:spPr>
          <a:xfrm>
            <a:off x="10356413" y="2966323"/>
            <a:ext cx="2828211" cy="353378"/>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Petrona Bold" pitchFamily="34" charset="0"/>
                <a:ea typeface="Petrona Bold" pitchFamily="34" charset="-122"/>
                <a:cs typeface="Petrona Bold" pitchFamily="34" charset="-120"/>
              </a:rPr>
              <a:t>Trade-offs</a:t>
            </a:r>
            <a:endParaRPr lang="en-US" sz="2200" dirty="0"/>
          </a:p>
        </p:txBody>
      </p:sp>
      <p:sp>
        <p:nvSpPr>
          <p:cNvPr id="14" name="Text 6"/>
          <p:cNvSpPr/>
          <p:nvPr/>
        </p:nvSpPr>
        <p:spPr>
          <a:xfrm>
            <a:off x="9704427" y="3448883"/>
            <a:ext cx="4132183" cy="1034415"/>
          </a:xfrm>
          <a:prstGeom prst="rect">
            <a:avLst/>
          </a:prstGeom>
          <a:noFill/>
          <a:ln/>
        </p:spPr>
        <p:txBody>
          <a:bodyPr wrap="square" lIns="0" tIns="0" rIns="0" bIns="0" rtlCol="0" anchor="t"/>
          <a:lstStyle/>
          <a:p>
            <a:pPr marL="0" indent="0" algn="ctr">
              <a:lnSpc>
                <a:spcPts val="2700"/>
              </a:lnSpc>
              <a:buNone/>
            </a:pPr>
            <a:r>
              <a:rPr lang="en-US" dirty="0">
                <a:latin typeface="Times New Roman" panose="02020603050405020304" pitchFamily="18" charset="0"/>
                <a:cs typeface="Times New Roman" panose="02020603050405020304" pitchFamily="18" charset="0"/>
              </a:rPr>
              <a:t>DBSCAN created too many clusters (64) with poor cohesion (silhouette: -0.4351); K-Means offered better interpretability despite longer processing time.</a:t>
            </a:r>
          </a:p>
        </p:txBody>
      </p:sp>
      <p:sp>
        <p:nvSpPr>
          <p:cNvPr id="15" name="Rectangle 14">
            <a:extLst>
              <a:ext uri="{FF2B5EF4-FFF2-40B4-BE49-F238E27FC236}">
                <a16:creationId xmlns:a16="http://schemas.microsoft.com/office/drawing/2014/main" id="{878D0C73-2249-49F7-98AF-7C5EC6C9395C}"/>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6670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50388"/>
            <a:ext cx="11212711"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Key Influential Factors on Airbnb Pricing</a:t>
            </a:r>
            <a:endParaRPr lang="en-US" sz="4650" dirty="0"/>
          </a:p>
        </p:txBody>
      </p:sp>
      <p:sp>
        <p:nvSpPr>
          <p:cNvPr id="3" name="Text 1"/>
          <p:cNvSpPr/>
          <p:nvPr/>
        </p:nvSpPr>
        <p:spPr>
          <a:xfrm>
            <a:off x="793790" y="346162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Geographic Influence</a:t>
            </a:r>
            <a:endParaRPr lang="en-US" sz="2300" dirty="0"/>
          </a:p>
        </p:txBody>
      </p:sp>
      <p:sp>
        <p:nvSpPr>
          <p:cNvPr id="4" name="Text 2"/>
          <p:cNvSpPr/>
          <p:nvPr/>
        </p:nvSpPr>
        <p:spPr>
          <a:xfrm>
            <a:off x="793790" y="4060508"/>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Manhattan and parts of Brooklyn show significantly higher price listings, making location a strong predictor in pricing models.</a:t>
            </a:r>
            <a:endParaRPr lang="en-US" sz="1750" dirty="0"/>
          </a:p>
        </p:txBody>
      </p:sp>
      <p:sp>
        <p:nvSpPr>
          <p:cNvPr id="5" name="Text 3"/>
          <p:cNvSpPr/>
          <p:nvPr/>
        </p:nvSpPr>
        <p:spPr>
          <a:xfrm>
            <a:off x="5332928" y="346162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Property Traits</a:t>
            </a:r>
            <a:endParaRPr lang="en-US" sz="2300" dirty="0"/>
          </a:p>
        </p:txBody>
      </p:sp>
      <p:sp>
        <p:nvSpPr>
          <p:cNvPr id="6" name="Text 4"/>
          <p:cNvSpPr/>
          <p:nvPr/>
        </p:nvSpPr>
        <p:spPr>
          <a:xfrm>
            <a:off x="5332928" y="4060508"/>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Entire homes command higher prices than shared or private rooms. Minimum night restrictions shape occupancy and pricing strategies.</a:t>
            </a:r>
            <a:endParaRPr lang="en-US" sz="1750" dirty="0"/>
          </a:p>
        </p:txBody>
      </p:sp>
      <p:sp>
        <p:nvSpPr>
          <p:cNvPr id="7" name="Text 5"/>
          <p:cNvSpPr/>
          <p:nvPr/>
        </p:nvSpPr>
        <p:spPr>
          <a:xfrm>
            <a:off x="9872067" y="3461623"/>
            <a:ext cx="3509843"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Host &amp; Temporal Patterns</a:t>
            </a:r>
            <a:endParaRPr lang="en-US" sz="2300" dirty="0"/>
          </a:p>
        </p:txBody>
      </p:sp>
      <p:sp>
        <p:nvSpPr>
          <p:cNvPr id="8" name="Text 6"/>
          <p:cNvSpPr/>
          <p:nvPr/>
        </p:nvSpPr>
        <p:spPr>
          <a:xfrm>
            <a:off x="9872067" y="4060508"/>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Hosts with multiple listings use more consistent pricing. Seasonal availability and listing tenure influence price stability and premiums.</a:t>
            </a:r>
            <a:endParaRPr lang="en-US" sz="1750" dirty="0"/>
          </a:p>
        </p:txBody>
      </p:sp>
      <p:sp>
        <p:nvSpPr>
          <p:cNvPr id="9" name="Rectangle 8">
            <a:extLst>
              <a:ext uri="{FF2B5EF4-FFF2-40B4-BE49-F238E27FC236}">
                <a16:creationId xmlns:a16="http://schemas.microsoft.com/office/drawing/2014/main" id="{C8A975B9-93D7-49A7-B963-C12C8C945898}"/>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61893"/>
            <a:ext cx="7556421" cy="1413986"/>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Petrona Bold" pitchFamily="34" charset="0"/>
                <a:ea typeface="Petrona Bold" pitchFamily="34" charset="-122"/>
                <a:cs typeface="Petrona Bold" pitchFamily="34" charset="-120"/>
              </a:rPr>
              <a:t>Challenges Encountered in the Project</a:t>
            </a:r>
            <a:endParaRPr lang="en-US" sz="4450" dirty="0"/>
          </a:p>
        </p:txBody>
      </p:sp>
      <p:sp>
        <p:nvSpPr>
          <p:cNvPr id="4" name="Shape 1"/>
          <p:cNvSpPr/>
          <p:nvPr/>
        </p:nvSpPr>
        <p:spPr>
          <a:xfrm>
            <a:off x="793790" y="2841427"/>
            <a:ext cx="484823" cy="484823"/>
          </a:xfrm>
          <a:prstGeom prst="roundRect">
            <a:avLst>
              <a:gd name="adj" fmla="val 18667"/>
            </a:avLst>
          </a:prstGeom>
          <a:solidFill>
            <a:srgbClr val="CCEEFF"/>
          </a:solidFill>
          <a:ln w="7620">
            <a:solidFill>
              <a:srgbClr val="B2D4E5"/>
            </a:solidFill>
            <a:prstDash val="solid"/>
          </a:ln>
        </p:spPr>
        <p:txBody>
          <a:bodyPr/>
          <a:lstStyle/>
          <a:p>
            <a:endParaRPr lang="en-US"/>
          </a:p>
        </p:txBody>
      </p:sp>
      <p:sp>
        <p:nvSpPr>
          <p:cNvPr id="5" name="Text 2"/>
          <p:cNvSpPr/>
          <p:nvPr/>
        </p:nvSpPr>
        <p:spPr>
          <a:xfrm>
            <a:off x="1493996" y="2841427"/>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Data Quality</a:t>
            </a:r>
            <a:endParaRPr lang="en-US" sz="2200" dirty="0"/>
          </a:p>
        </p:txBody>
      </p:sp>
      <p:sp>
        <p:nvSpPr>
          <p:cNvPr id="6" name="Text 3"/>
          <p:cNvSpPr/>
          <p:nvPr/>
        </p:nvSpPr>
        <p:spPr>
          <a:xfrm>
            <a:off x="1493996" y="3323987"/>
            <a:ext cx="2970371" cy="2068830"/>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Missing values and extreme price outliers complicated data cleaning and analysis, requiring robust imputation and outlier treatment techniques.</a:t>
            </a:r>
            <a:endParaRPr lang="en-US" sz="1650" dirty="0"/>
          </a:p>
        </p:txBody>
      </p:sp>
      <p:sp>
        <p:nvSpPr>
          <p:cNvPr id="7" name="Shape 4"/>
          <p:cNvSpPr/>
          <p:nvPr/>
        </p:nvSpPr>
        <p:spPr>
          <a:xfrm>
            <a:off x="4679752" y="2841427"/>
            <a:ext cx="484823" cy="484823"/>
          </a:xfrm>
          <a:prstGeom prst="roundRect">
            <a:avLst>
              <a:gd name="adj" fmla="val 18667"/>
            </a:avLst>
          </a:prstGeom>
          <a:solidFill>
            <a:srgbClr val="CCEEFF"/>
          </a:solidFill>
          <a:ln w="7620">
            <a:solidFill>
              <a:srgbClr val="B2D4E5"/>
            </a:solidFill>
            <a:prstDash val="solid"/>
          </a:ln>
        </p:spPr>
        <p:txBody>
          <a:bodyPr/>
          <a:lstStyle/>
          <a:p>
            <a:endParaRPr lang="en-US"/>
          </a:p>
        </p:txBody>
      </p:sp>
      <p:sp>
        <p:nvSpPr>
          <p:cNvPr id="8" name="Text 5"/>
          <p:cNvSpPr/>
          <p:nvPr/>
        </p:nvSpPr>
        <p:spPr>
          <a:xfrm>
            <a:off x="5379958" y="2841427"/>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Model Complexity</a:t>
            </a:r>
            <a:endParaRPr lang="en-US" sz="2200" dirty="0"/>
          </a:p>
        </p:txBody>
      </p:sp>
      <p:sp>
        <p:nvSpPr>
          <p:cNvPr id="9" name="Text 6"/>
          <p:cNvSpPr/>
          <p:nvPr/>
        </p:nvSpPr>
        <p:spPr>
          <a:xfrm>
            <a:off x="5379958" y="3323987"/>
            <a:ext cx="2970371" cy="2068830"/>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Trade-offs between interpretability and accuracy emerged; highly accurate tree ensembles demand more computational resources and tuning.</a:t>
            </a:r>
            <a:endParaRPr lang="en-US" sz="1650" dirty="0"/>
          </a:p>
        </p:txBody>
      </p:sp>
      <p:sp>
        <p:nvSpPr>
          <p:cNvPr id="10" name="Shape 7"/>
          <p:cNvSpPr/>
          <p:nvPr/>
        </p:nvSpPr>
        <p:spPr>
          <a:xfrm>
            <a:off x="793790" y="5850612"/>
            <a:ext cx="484823" cy="484823"/>
          </a:xfrm>
          <a:prstGeom prst="roundRect">
            <a:avLst>
              <a:gd name="adj" fmla="val 18667"/>
            </a:avLst>
          </a:prstGeom>
          <a:solidFill>
            <a:srgbClr val="CCEEFF"/>
          </a:solidFill>
          <a:ln w="7620">
            <a:solidFill>
              <a:srgbClr val="B2D4E5"/>
            </a:solidFill>
            <a:prstDash val="solid"/>
          </a:ln>
        </p:spPr>
        <p:txBody>
          <a:bodyPr/>
          <a:lstStyle/>
          <a:p>
            <a:endParaRPr lang="en-US"/>
          </a:p>
        </p:txBody>
      </p:sp>
      <p:sp>
        <p:nvSpPr>
          <p:cNvPr id="11" name="Text 8"/>
          <p:cNvSpPr/>
          <p:nvPr/>
        </p:nvSpPr>
        <p:spPr>
          <a:xfrm>
            <a:off x="1493996" y="5850612"/>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Feature Engineering</a:t>
            </a:r>
            <a:endParaRPr lang="en-US" sz="2200" dirty="0"/>
          </a:p>
        </p:txBody>
      </p:sp>
      <p:sp>
        <p:nvSpPr>
          <p:cNvPr id="12" name="Text 9"/>
          <p:cNvSpPr/>
          <p:nvPr/>
        </p:nvSpPr>
        <p:spPr>
          <a:xfrm>
            <a:off x="1493996" y="6333173"/>
            <a:ext cx="6856214" cy="103441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High collinearity among engineered features challenged model stability, necessitating iterative selection and domain-driven feature design.</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0910"/>
          </a:xfrm>
          <a:prstGeom prst="rect">
            <a:avLst/>
          </a:prstGeom>
        </p:spPr>
      </p:pic>
      <p:sp>
        <p:nvSpPr>
          <p:cNvPr id="3" name="Text 0"/>
          <p:cNvSpPr/>
          <p:nvPr/>
        </p:nvSpPr>
        <p:spPr>
          <a:xfrm>
            <a:off x="787241" y="618530"/>
            <a:ext cx="7569517" cy="1254919"/>
          </a:xfrm>
          <a:prstGeom prst="rect">
            <a:avLst/>
          </a:prstGeom>
          <a:noFill/>
          <a:ln/>
        </p:spPr>
        <p:txBody>
          <a:bodyPr wrap="square" lIns="0" tIns="0" rIns="0" bIns="0" rtlCol="0" anchor="t"/>
          <a:lstStyle/>
          <a:p>
            <a:pPr marL="0" indent="0" algn="l">
              <a:lnSpc>
                <a:spcPts val="4900"/>
              </a:lnSpc>
              <a:buNone/>
            </a:pPr>
            <a:r>
              <a:rPr lang="en-US" sz="3950" b="1" dirty="0">
                <a:solidFill>
                  <a:srgbClr val="000000"/>
                </a:solidFill>
                <a:latin typeface="Petrona Bold" pitchFamily="34" charset="0"/>
                <a:ea typeface="Petrona Bold" pitchFamily="34" charset="-122"/>
                <a:cs typeface="Petrona Bold" pitchFamily="34" charset="-120"/>
              </a:rPr>
              <a:t>Lessons Learned and Strategic Recommendations</a:t>
            </a:r>
            <a:endParaRPr lang="en-US" sz="3950" dirty="0"/>
          </a:p>
        </p:txBody>
      </p:sp>
      <p:pic>
        <p:nvPicPr>
          <p:cNvPr id="4" name="Image 1" descr="preencoded.png"/>
          <p:cNvPicPr>
            <a:picLocks noChangeAspect="1"/>
          </p:cNvPicPr>
          <p:nvPr/>
        </p:nvPicPr>
        <p:blipFill>
          <a:blip r:embed="rId4"/>
          <a:stretch>
            <a:fillRect/>
          </a:stretch>
        </p:blipFill>
        <p:spPr>
          <a:xfrm>
            <a:off x="787241" y="2160151"/>
            <a:ext cx="955953" cy="1422321"/>
          </a:xfrm>
          <a:prstGeom prst="rect">
            <a:avLst/>
          </a:prstGeom>
        </p:spPr>
      </p:pic>
      <p:sp>
        <p:nvSpPr>
          <p:cNvPr id="5" name="Text 1"/>
          <p:cNvSpPr/>
          <p:nvPr/>
        </p:nvSpPr>
        <p:spPr>
          <a:xfrm>
            <a:off x="2029897" y="2351246"/>
            <a:ext cx="2509599" cy="313730"/>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Methodology</a:t>
            </a:r>
            <a:endParaRPr lang="en-US" sz="1950" dirty="0"/>
          </a:p>
        </p:txBody>
      </p:sp>
      <p:sp>
        <p:nvSpPr>
          <p:cNvPr id="6" name="Text 2"/>
          <p:cNvSpPr/>
          <p:nvPr/>
        </p:nvSpPr>
        <p:spPr>
          <a:xfrm>
            <a:off x="2029897" y="2779633"/>
            <a:ext cx="6326862" cy="6117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Tree-based gradient boosting algorithms consistently outperformed, with feature engineering crucial for boosting predictive power.</a:t>
            </a:r>
            <a:endParaRPr lang="en-US" sz="1500" dirty="0"/>
          </a:p>
        </p:txBody>
      </p:sp>
      <p:pic>
        <p:nvPicPr>
          <p:cNvPr id="7" name="Image 2" descr="preencoded.png"/>
          <p:cNvPicPr>
            <a:picLocks noChangeAspect="1"/>
          </p:cNvPicPr>
          <p:nvPr/>
        </p:nvPicPr>
        <p:blipFill>
          <a:blip r:embed="rId5"/>
          <a:stretch>
            <a:fillRect/>
          </a:stretch>
        </p:blipFill>
        <p:spPr>
          <a:xfrm>
            <a:off x="787241" y="3582472"/>
            <a:ext cx="955953" cy="1862018"/>
          </a:xfrm>
          <a:prstGeom prst="rect">
            <a:avLst/>
          </a:prstGeom>
        </p:spPr>
      </p:pic>
      <p:sp>
        <p:nvSpPr>
          <p:cNvPr id="8" name="Text 3"/>
          <p:cNvSpPr/>
          <p:nvPr/>
        </p:nvSpPr>
        <p:spPr>
          <a:xfrm>
            <a:off x="2029897" y="3773567"/>
            <a:ext cx="2509599" cy="313730"/>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Hosts</a:t>
            </a:r>
            <a:endParaRPr lang="en-US" sz="1950" dirty="0"/>
          </a:p>
        </p:txBody>
      </p:sp>
      <p:sp>
        <p:nvSpPr>
          <p:cNvPr id="9" name="Text 4"/>
          <p:cNvSpPr/>
          <p:nvPr/>
        </p:nvSpPr>
        <p:spPr>
          <a:xfrm>
            <a:off x="2029897" y="4201954"/>
            <a:ext cx="6326862" cy="3058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Adjust minimum night stays by neighborhood demand</a:t>
            </a:r>
            <a:endParaRPr lang="en-US" sz="1500" dirty="0"/>
          </a:p>
        </p:txBody>
      </p:sp>
      <p:sp>
        <p:nvSpPr>
          <p:cNvPr id="10" name="Text 5"/>
          <p:cNvSpPr/>
          <p:nvPr/>
        </p:nvSpPr>
        <p:spPr>
          <a:xfrm>
            <a:off x="2029897" y="4574738"/>
            <a:ext cx="6326862" cy="3058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Manage availability strategically to influence pricing</a:t>
            </a:r>
            <a:endParaRPr lang="en-US" sz="1500" dirty="0"/>
          </a:p>
        </p:txBody>
      </p:sp>
      <p:sp>
        <p:nvSpPr>
          <p:cNvPr id="11" name="Text 6"/>
          <p:cNvSpPr/>
          <p:nvPr/>
        </p:nvSpPr>
        <p:spPr>
          <a:xfrm>
            <a:off x="2029897" y="4947523"/>
            <a:ext cx="6326862" cy="3058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Increase review volume to enhance pricing power</a:t>
            </a:r>
            <a:endParaRPr lang="en-US" sz="1500" dirty="0"/>
          </a:p>
        </p:txBody>
      </p:sp>
      <p:pic>
        <p:nvPicPr>
          <p:cNvPr id="12" name="Image 3" descr="preencoded.png"/>
          <p:cNvPicPr>
            <a:picLocks noChangeAspect="1"/>
          </p:cNvPicPr>
          <p:nvPr/>
        </p:nvPicPr>
        <p:blipFill>
          <a:blip r:embed="rId6"/>
          <a:stretch>
            <a:fillRect/>
          </a:stretch>
        </p:blipFill>
        <p:spPr>
          <a:xfrm>
            <a:off x="787241" y="5444490"/>
            <a:ext cx="955953" cy="2167890"/>
          </a:xfrm>
          <a:prstGeom prst="rect">
            <a:avLst/>
          </a:prstGeom>
        </p:spPr>
      </p:pic>
      <p:sp>
        <p:nvSpPr>
          <p:cNvPr id="13" name="Text 7"/>
          <p:cNvSpPr/>
          <p:nvPr/>
        </p:nvSpPr>
        <p:spPr>
          <a:xfrm>
            <a:off x="2029897" y="5635585"/>
            <a:ext cx="2509599" cy="313730"/>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Investors</a:t>
            </a:r>
            <a:endParaRPr lang="en-US" sz="1950" dirty="0"/>
          </a:p>
        </p:txBody>
      </p:sp>
      <p:sp>
        <p:nvSpPr>
          <p:cNvPr id="14" name="Text 8"/>
          <p:cNvSpPr/>
          <p:nvPr/>
        </p:nvSpPr>
        <p:spPr>
          <a:xfrm>
            <a:off x="2029897" y="6063972"/>
            <a:ext cx="6326862" cy="3058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Focus on properties in high price-to-availability zones</a:t>
            </a:r>
            <a:endParaRPr lang="en-US" sz="1500" dirty="0"/>
          </a:p>
        </p:txBody>
      </p:sp>
      <p:sp>
        <p:nvSpPr>
          <p:cNvPr id="15" name="Text 9"/>
          <p:cNvSpPr/>
          <p:nvPr/>
        </p:nvSpPr>
        <p:spPr>
          <a:xfrm>
            <a:off x="2029897" y="6436757"/>
            <a:ext cx="6326862" cy="3058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Consider converting units into entire homes/apartments</a:t>
            </a:r>
            <a:endParaRPr lang="en-US" sz="1500" dirty="0"/>
          </a:p>
        </p:txBody>
      </p:sp>
      <p:sp>
        <p:nvSpPr>
          <p:cNvPr id="16" name="Text 10"/>
          <p:cNvSpPr/>
          <p:nvPr/>
        </p:nvSpPr>
        <p:spPr>
          <a:xfrm>
            <a:off x="2029897" y="6809542"/>
            <a:ext cx="6326862" cy="611743"/>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272525"/>
                </a:solidFill>
                <a:latin typeface="Inter" pitchFamily="34" charset="0"/>
                <a:ea typeface="Inter" pitchFamily="34" charset="-122"/>
                <a:cs typeface="Inter" pitchFamily="34" charset="-120"/>
              </a:rPr>
              <a:t>Target neighborhoods with rising review trends and moderate prices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58416"/>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Future Directions for Enhanced Modeling</a:t>
            </a:r>
            <a:endParaRPr lang="en-US" sz="4650" dirty="0"/>
          </a:p>
        </p:txBody>
      </p:sp>
      <p:sp>
        <p:nvSpPr>
          <p:cNvPr id="4" name="Shape 1"/>
          <p:cNvSpPr/>
          <p:nvPr/>
        </p:nvSpPr>
        <p:spPr>
          <a:xfrm>
            <a:off x="6280190" y="2487097"/>
            <a:ext cx="3664863" cy="2791539"/>
          </a:xfrm>
          <a:prstGeom prst="roundRect">
            <a:avLst>
              <a:gd name="adj" fmla="val 3413"/>
            </a:avLst>
          </a:prstGeom>
          <a:solidFill>
            <a:srgbClr val="CCEEFF"/>
          </a:solidFill>
          <a:ln w="7620">
            <a:solidFill>
              <a:srgbClr val="B2D4E5"/>
            </a:solidFill>
            <a:prstDash val="solid"/>
          </a:ln>
        </p:spPr>
        <p:txBody>
          <a:bodyPr/>
          <a:lstStyle/>
          <a:p>
            <a:endParaRPr lang="en-US"/>
          </a:p>
        </p:txBody>
      </p:sp>
      <p:sp>
        <p:nvSpPr>
          <p:cNvPr id="5" name="Text 2"/>
          <p:cNvSpPr/>
          <p:nvPr/>
        </p:nvSpPr>
        <p:spPr>
          <a:xfrm>
            <a:off x="6514624" y="2721531"/>
            <a:ext cx="3175397"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Integrate External Data</a:t>
            </a:r>
            <a:endParaRPr lang="en-US" sz="2300" dirty="0"/>
          </a:p>
        </p:txBody>
      </p:sp>
      <p:sp>
        <p:nvSpPr>
          <p:cNvPr id="6" name="Text 3"/>
          <p:cNvSpPr/>
          <p:nvPr/>
        </p:nvSpPr>
        <p:spPr>
          <a:xfrm>
            <a:off x="6514624" y="3229689"/>
            <a:ext cx="3195995"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Add neighborhood amenities, transit accessibility, and demographic layers for richer context and improved model accuracy.</a:t>
            </a:r>
            <a:endParaRPr lang="en-US" sz="1750" dirty="0"/>
          </a:p>
        </p:txBody>
      </p:sp>
      <p:sp>
        <p:nvSpPr>
          <p:cNvPr id="7" name="Shape 4"/>
          <p:cNvSpPr/>
          <p:nvPr/>
        </p:nvSpPr>
        <p:spPr>
          <a:xfrm>
            <a:off x="10171867" y="2487097"/>
            <a:ext cx="3664863" cy="2791539"/>
          </a:xfrm>
          <a:prstGeom prst="roundRect">
            <a:avLst>
              <a:gd name="adj" fmla="val 3413"/>
            </a:avLst>
          </a:prstGeom>
          <a:solidFill>
            <a:srgbClr val="CCEEFF"/>
          </a:solidFill>
          <a:ln w="7620">
            <a:solidFill>
              <a:srgbClr val="B2D4E5"/>
            </a:solidFill>
            <a:prstDash val="solid"/>
          </a:ln>
        </p:spPr>
        <p:txBody>
          <a:bodyPr/>
          <a:lstStyle/>
          <a:p>
            <a:endParaRPr lang="en-US"/>
          </a:p>
        </p:txBody>
      </p:sp>
      <p:sp>
        <p:nvSpPr>
          <p:cNvPr id="8" name="Text 5"/>
          <p:cNvSpPr/>
          <p:nvPr/>
        </p:nvSpPr>
        <p:spPr>
          <a:xfrm>
            <a:off x="10406301" y="272153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Time Series Analysis</a:t>
            </a:r>
            <a:endParaRPr lang="en-US" sz="2300" dirty="0"/>
          </a:p>
        </p:txBody>
      </p:sp>
      <p:sp>
        <p:nvSpPr>
          <p:cNvPr id="9" name="Text 6"/>
          <p:cNvSpPr/>
          <p:nvPr/>
        </p:nvSpPr>
        <p:spPr>
          <a:xfrm>
            <a:off x="10406301" y="3229689"/>
            <a:ext cx="319599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Model seasonal pricing dynamics and trends to capture temporal variability and improve forecasting.</a:t>
            </a:r>
            <a:endParaRPr lang="en-US" sz="1750" dirty="0"/>
          </a:p>
        </p:txBody>
      </p:sp>
      <p:sp>
        <p:nvSpPr>
          <p:cNvPr id="10" name="Shape 7"/>
          <p:cNvSpPr/>
          <p:nvPr/>
        </p:nvSpPr>
        <p:spPr>
          <a:xfrm>
            <a:off x="6280190" y="5505450"/>
            <a:ext cx="7556421" cy="2065734"/>
          </a:xfrm>
          <a:prstGeom prst="roundRect">
            <a:avLst>
              <a:gd name="adj" fmla="val 4612"/>
            </a:avLst>
          </a:prstGeom>
          <a:solidFill>
            <a:srgbClr val="CCEEFF"/>
          </a:solidFill>
          <a:ln w="7620">
            <a:solidFill>
              <a:srgbClr val="B2D4E5"/>
            </a:solidFill>
            <a:prstDash val="solid"/>
          </a:ln>
        </p:spPr>
        <p:txBody>
          <a:bodyPr/>
          <a:lstStyle/>
          <a:p>
            <a:endParaRPr lang="en-US"/>
          </a:p>
        </p:txBody>
      </p:sp>
      <p:sp>
        <p:nvSpPr>
          <p:cNvPr id="11" name="Text 8"/>
          <p:cNvSpPr/>
          <p:nvPr/>
        </p:nvSpPr>
        <p:spPr>
          <a:xfrm>
            <a:off x="6514624" y="5739884"/>
            <a:ext cx="4714875"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Ensemble Models &amp; Visualizations</a:t>
            </a:r>
            <a:endParaRPr lang="en-US" sz="2300" dirty="0"/>
          </a:p>
        </p:txBody>
      </p:sp>
      <p:sp>
        <p:nvSpPr>
          <p:cNvPr id="12" name="Text 9"/>
          <p:cNvSpPr/>
          <p:nvPr/>
        </p:nvSpPr>
        <p:spPr>
          <a:xfrm>
            <a:off x="6514624" y="6248043"/>
            <a:ext cx="708755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Combine strengths of multiple models and build interactive visualization tools to empower stakeholders with real-time insights.</a:t>
            </a:r>
            <a:endParaRPr lang="en-US" sz="1750" dirty="0"/>
          </a:p>
        </p:txBody>
      </p:sp>
      <p:sp>
        <p:nvSpPr>
          <p:cNvPr id="13" name="Rectangle 12">
            <a:extLst>
              <a:ext uri="{FF2B5EF4-FFF2-40B4-BE49-F238E27FC236}">
                <a16:creationId xmlns:a16="http://schemas.microsoft.com/office/drawing/2014/main" id="{F59824E2-71D0-4AA6-9F50-5F7A60EDB83E}"/>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93551"/>
          </a:xfrm>
          <a:prstGeom prst="rect">
            <a:avLst/>
          </a:prstGeom>
        </p:spPr>
      </p:pic>
      <p:sp>
        <p:nvSpPr>
          <p:cNvPr id="3" name="Text 0"/>
          <p:cNvSpPr/>
          <p:nvPr/>
        </p:nvSpPr>
        <p:spPr>
          <a:xfrm>
            <a:off x="793790" y="3412331"/>
            <a:ext cx="12852678" cy="706993"/>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Petrona Bold" pitchFamily="34" charset="0"/>
                <a:ea typeface="Petrona Bold" pitchFamily="34" charset="-122"/>
                <a:cs typeface="Petrona Bold" pitchFamily="34" charset="-120"/>
              </a:rPr>
              <a:t>Conclusion and Impact of the NYC Airbnb Project</a:t>
            </a:r>
            <a:endParaRPr lang="en-US" sz="4450" dirty="0"/>
          </a:p>
        </p:txBody>
      </p:sp>
      <p:sp>
        <p:nvSpPr>
          <p:cNvPr id="4" name="Shape 1"/>
          <p:cNvSpPr/>
          <p:nvPr/>
        </p:nvSpPr>
        <p:spPr>
          <a:xfrm>
            <a:off x="793790" y="5088850"/>
            <a:ext cx="4132183" cy="215384"/>
          </a:xfrm>
          <a:prstGeom prst="roundRect">
            <a:avLst>
              <a:gd name="adj" fmla="val 42020"/>
            </a:avLst>
          </a:prstGeom>
          <a:solidFill>
            <a:srgbClr val="CCEEFF"/>
          </a:solidFill>
          <a:ln w="7620">
            <a:solidFill>
              <a:srgbClr val="B2D4E5"/>
            </a:solidFill>
            <a:prstDash val="solid"/>
          </a:ln>
        </p:spPr>
        <p:txBody>
          <a:bodyPr/>
          <a:lstStyle/>
          <a:p>
            <a:endParaRPr lang="en-US"/>
          </a:p>
        </p:txBody>
      </p:sp>
      <p:sp>
        <p:nvSpPr>
          <p:cNvPr id="5" name="Text 2"/>
          <p:cNvSpPr/>
          <p:nvPr/>
        </p:nvSpPr>
        <p:spPr>
          <a:xfrm>
            <a:off x="793790" y="5627370"/>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Data Analysis</a:t>
            </a:r>
            <a:endParaRPr lang="en-US" sz="2200" dirty="0"/>
          </a:p>
        </p:txBody>
      </p:sp>
      <p:sp>
        <p:nvSpPr>
          <p:cNvPr id="6" name="Text 3"/>
          <p:cNvSpPr/>
          <p:nvPr/>
        </p:nvSpPr>
        <p:spPr>
          <a:xfrm>
            <a:off x="793790" y="6109930"/>
            <a:ext cx="4132183" cy="1379220"/>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Comprehensive exploration of a complex dataset revealed critical pricing drivers and hosted insightful feature engineering.</a:t>
            </a:r>
            <a:endParaRPr lang="en-US" sz="1650" dirty="0"/>
          </a:p>
        </p:txBody>
      </p:sp>
      <p:sp>
        <p:nvSpPr>
          <p:cNvPr id="7" name="Shape 4"/>
          <p:cNvSpPr/>
          <p:nvPr/>
        </p:nvSpPr>
        <p:spPr>
          <a:xfrm>
            <a:off x="5249108" y="4765596"/>
            <a:ext cx="4132183" cy="215384"/>
          </a:xfrm>
          <a:prstGeom prst="roundRect">
            <a:avLst>
              <a:gd name="adj" fmla="val 42020"/>
            </a:avLst>
          </a:prstGeom>
          <a:solidFill>
            <a:srgbClr val="CCEEFF"/>
          </a:solidFill>
          <a:ln w="7620">
            <a:solidFill>
              <a:srgbClr val="B2D4E5"/>
            </a:solidFill>
            <a:prstDash val="solid"/>
          </a:ln>
        </p:spPr>
        <p:txBody>
          <a:bodyPr/>
          <a:lstStyle/>
          <a:p>
            <a:endParaRPr lang="en-US"/>
          </a:p>
        </p:txBody>
      </p:sp>
      <p:sp>
        <p:nvSpPr>
          <p:cNvPr id="8" name="Text 5"/>
          <p:cNvSpPr/>
          <p:nvPr/>
        </p:nvSpPr>
        <p:spPr>
          <a:xfrm>
            <a:off x="5249108" y="5304115"/>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Model Development</a:t>
            </a:r>
            <a:endParaRPr lang="en-US" sz="2200" dirty="0"/>
          </a:p>
        </p:txBody>
      </p:sp>
      <p:sp>
        <p:nvSpPr>
          <p:cNvPr id="9" name="Text 6"/>
          <p:cNvSpPr/>
          <p:nvPr/>
        </p:nvSpPr>
        <p:spPr>
          <a:xfrm>
            <a:off x="5249108" y="5786676"/>
            <a:ext cx="4132183" cy="172402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Implemented and evaluated regression and classification models, demonstrating strong predictive performance mainly from tree ensemble methods.</a:t>
            </a:r>
            <a:endParaRPr lang="en-US" sz="1650" dirty="0"/>
          </a:p>
        </p:txBody>
      </p:sp>
      <p:sp>
        <p:nvSpPr>
          <p:cNvPr id="10" name="Shape 7"/>
          <p:cNvSpPr/>
          <p:nvPr/>
        </p:nvSpPr>
        <p:spPr>
          <a:xfrm>
            <a:off x="9704427" y="4442460"/>
            <a:ext cx="4132183" cy="215384"/>
          </a:xfrm>
          <a:prstGeom prst="roundRect">
            <a:avLst>
              <a:gd name="adj" fmla="val 42020"/>
            </a:avLst>
          </a:prstGeom>
          <a:solidFill>
            <a:srgbClr val="CCEEFF"/>
          </a:solidFill>
          <a:ln w="7620">
            <a:solidFill>
              <a:srgbClr val="B2D4E5"/>
            </a:solidFill>
            <a:prstDash val="solid"/>
          </a:ln>
        </p:spPr>
        <p:txBody>
          <a:bodyPr/>
          <a:lstStyle/>
          <a:p>
            <a:endParaRPr lang="en-US"/>
          </a:p>
        </p:txBody>
      </p:sp>
      <p:sp>
        <p:nvSpPr>
          <p:cNvPr id="11" name="Text 8"/>
          <p:cNvSpPr/>
          <p:nvPr/>
        </p:nvSpPr>
        <p:spPr>
          <a:xfrm>
            <a:off x="9704427" y="4980980"/>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Business Insights</a:t>
            </a:r>
            <a:endParaRPr lang="en-US" sz="2200" dirty="0"/>
          </a:p>
        </p:txBody>
      </p:sp>
      <p:sp>
        <p:nvSpPr>
          <p:cNvPr id="12" name="Text 9"/>
          <p:cNvSpPr/>
          <p:nvPr/>
        </p:nvSpPr>
        <p:spPr>
          <a:xfrm>
            <a:off x="9704427" y="5463540"/>
            <a:ext cx="4132183" cy="1379220"/>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Generated actionable recommendations empowering hosts and investors with data-driven decision support in an evolving rental marketplace.</a:t>
            </a:r>
            <a:endParaRPr lang="en-US" sz="1650" dirty="0"/>
          </a:p>
        </p:txBody>
      </p:sp>
      <p:sp>
        <p:nvSpPr>
          <p:cNvPr id="13" name="Rectangle 12">
            <a:extLst>
              <a:ext uri="{FF2B5EF4-FFF2-40B4-BE49-F238E27FC236}">
                <a16:creationId xmlns:a16="http://schemas.microsoft.com/office/drawing/2014/main" id="{884A48F9-0103-4189-AD5D-E7193A6C46F0}"/>
              </a:ext>
            </a:extLst>
          </p:cNvPr>
          <p:cNvSpPr/>
          <p:nvPr/>
        </p:nvSpPr>
        <p:spPr>
          <a:xfrm>
            <a:off x="12705906" y="7655441"/>
            <a:ext cx="1903228" cy="563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913</Words>
  <Application>Microsoft Office PowerPoint</Application>
  <PresentationFormat>Custom</PresentationFormat>
  <Paragraphs>112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Inter</vt:lpstr>
      <vt:lpstr>Times New Roman</vt:lpstr>
      <vt:lpstr>Petrona Bold</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mostafa 18323704</cp:lastModifiedBy>
  <cp:revision>8</cp:revision>
  <dcterms:created xsi:type="dcterms:W3CDTF">2025-04-24T12:36:44Z</dcterms:created>
  <dcterms:modified xsi:type="dcterms:W3CDTF">2025-04-27T19:39:03Z</dcterms:modified>
</cp:coreProperties>
</file>